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72" r:id="rId5"/>
    <p:sldId id="259" r:id="rId6"/>
    <p:sldId id="273" r:id="rId7"/>
    <p:sldId id="263" r:id="rId8"/>
    <p:sldId id="262" r:id="rId9"/>
    <p:sldId id="274" r:id="rId10"/>
    <p:sldId id="275" r:id="rId11"/>
    <p:sldId id="264" r:id="rId12"/>
    <p:sldId id="267" r:id="rId13"/>
    <p:sldId id="268" r:id="rId14"/>
    <p:sldId id="269" r:id="rId15"/>
    <p:sldId id="270" r:id="rId16"/>
    <p:sldId id="271" r:id="rId17"/>
    <p:sldId id="276" r:id="rId18"/>
  </p:sldIdLst>
  <p:sldSz cx="18288000" cy="10287000"/>
  <p:notesSz cx="6858000" cy="9144000"/>
  <p:embeddedFontLst>
    <p:embeddedFont>
      <p:font typeface="Canva Sans Bold" panose="020B0604020202020204" charset="0"/>
      <p:regular r:id="rId19"/>
    </p:embeddedFont>
    <p:embeddedFont>
      <p:font typeface="DM Sans" pitchFamily="2" charset="0"/>
      <p:regular r:id="rId20"/>
      <p:bold r:id="rId21"/>
      <p:italic r:id="rId22"/>
      <p:boldItalic r:id="rId23"/>
    </p:embeddedFont>
    <p:embeddedFont>
      <p:font typeface="DM Sans Bold" charset="0"/>
      <p:regular r:id="rId24"/>
    </p:embeddedFont>
    <p:embeddedFont>
      <p:font typeface="Montserrat" panose="00000500000000000000" pitchFamily="2" charset="0"/>
      <p:regular r:id="rId25"/>
      <p:bold r:id="rId26"/>
      <p:italic r:id="rId27"/>
      <p:boldItalic r:id="rId28"/>
    </p:embeddedFont>
    <p:embeddedFont>
      <p:font typeface="Montserrat Bold" panose="00000800000000000000"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Padwal" userId="22a257700564c16b" providerId="LiveId" clId="{9E62B13F-3A23-42EA-A515-89286A87115D}"/>
    <pc:docChg chg="custSel modSld">
      <pc:chgData name="Abhishek Padwal" userId="22a257700564c16b" providerId="LiveId" clId="{9E62B13F-3A23-42EA-A515-89286A87115D}" dt="2026-02-17T18:13:38.832" v="41" actId="1076"/>
      <pc:docMkLst>
        <pc:docMk/>
      </pc:docMkLst>
      <pc:sldChg chg="modSp mod">
        <pc:chgData name="Abhishek Padwal" userId="22a257700564c16b" providerId="LiveId" clId="{9E62B13F-3A23-42EA-A515-89286A87115D}" dt="2026-02-17T18:13:38.832" v="41" actId="1076"/>
        <pc:sldMkLst>
          <pc:docMk/>
          <pc:sldMk cId="0" sldId="256"/>
        </pc:sldMkLst>
        <pc:spChg chg="mod">
          <ac:chgData name="Abhishek Padwal" userId="22a257700564c16b" providerId="LiveId" clId="{9E62B13F-3A23-42EA-A515-89286A87115D}" dt="2026-02-17T18:13:35.563" v="40" actId="114"/>
          <ac:spMkLst>
            <pc:docMk/>
            <pc:sldMk cId="0" sldId="256"/>
            <ac:spMk id="6" creationId="{00000000-0000-0000-0000-000000000000}"/>
          </ac:spMkLst>
        </pc:spChg>
        <pc:spChg chg="mod">
          <ac:chgData name="Abhishek Padwal" userId="22a257700564c16b" providerId="LiveId" clId="{9E62B13F-3A23-42EA-A515-89286A87115D}" dt="2026-02-17T18:13:38.832" v="41" actId="1076"/>
          <ac:spMkLst>
            <pc:docMk/>
            <pc:sldMk cId="0" sldId="256"/>
            <ac:spMk id="7" creationId="{00000000-0000-0000-0000-000000000000}"/>
          </ac:spMkLst>
        </pc:spChg>
      </pc:sldChg>
      <pc:sldChg chg="modSp mod">
        <pc:chgData name="Abhishek Padwal" userId="22a257700564c16b" providerId="LiveId" clId="{9E62B13F-3A23-42EA-A515-89286A87115D}" dt="2026-02-17T18:11:27.899" v="1" actId="115"/>
        <pc:sldMkLst>
          <pc:docMk/>
          <pc:sldMk cId="0" sldId="257"/>
        </pc:sldMkLst>
        <pc:spChg chg="mod">
          <ac:chgData name="Abhishek Padwal" userId="22a257700564c16b" providerId="LiveId" clId="{9E62B13F-3A23-42EA-A515-89286A87115D}" dt="2026-02-17T18:11:27.899" v="1" actId="115"/>
          <ac:spMkLst>
            <pc:docMk/>
            <pc:sldMk cId="0" sldId="257"/>
            <ac:spMk id="2" creationId="{00000000-0000-0000-0000-000000000000}"/>
          </ac:spMkLst>
        </pc:spChg>
      </pc:sldChg>
      <pc:sldChg chg="modSp mod">
        <pc:chgData name="Abhishek Padwal" userId="22a257700564c16b" providerId="LiveId" clId="{9E62B13F-3A23-42EA-A515-89286A87115D}" dt="2026-02-17T18:13:25.766" v="38" actId="115"/>
        <pc:sldMkLst>
          <pc:docMk/>
          <pc:sldMk cId="0" sldId="261"/>
        </pc:sldMkLst>
        <pc:spChg chg="mod">
          <ac:chgData name="Abhishek Padwal" userId="22a257700564c16b" providerId="LiveId" clId="{9E62B13F-3A23-42EA-A515-89286A87115D}" dt="2026-02-17T18:13:25.766" v="38" actId="115"/>
          <ac:spMkLst>
            <pc:docMk/>
            <pc:sldMk cId="0" sldId="261"/>
            <ac:spMk id="3" creationId="{00000000-0000-0000-0000-000000000000}"/>
          </ac:spMkLst>
        </pc:spChg>
      </pc:sldChg>
      <pc:sldChg chg="modSp mod">
        <pc:chgData name="Abhishek Padwal" userId="22a257700564c16b" providerId="LiveId" clId="{9E62B13F-3A23-42EA-A515-89286A87115D}" dt="2026-02-17T18:13:23.035" v="37" actId="115"/>
        <pc:sldMkLst>
          <pc:docMk/>
          <pc:sldMk cId="0" sldId="262"/>
        </pc:sldMkLst>
        <pc:spChg chg="mod">
          <ac:chgData name="Abhishek Padwal" userId="22a257700564c16b" providerId="LiveId" clId="{9E62B13F-3A23-42EA-A515-89286A87115D}" dt="2026-02-17T18:13:23.035" v="37" actId="115"/>
          <ac:spMkLst>
            <pc:docMk/>
            <pc:sldMk cId="0" sldId="262"/>
            <ac:spMk id="9" creationId="{00000000-0000-0000-0000-000000000000}"/>
          </ac:spMkLst>
        </pc:spChg>
      </pc:sldChg>
      <pc:sldChg chg="modSp mod">
        <pc:chgData name="Abhishek Padwal" userId="22a257700564c16b" providerId="LiveId" clId="{9E62B13F-3A23-42EA-A515-89286A87115D}" dt="2026-02-17T18:13:20.481" v="36" actId="115"/>
        <pc:sldMkLst>
          <pc:docMk/>
          <pc:sldMk cId="0" sldId="263"/>
        </pc:sldMkLst>
        <pc:spChg chg="mod">
          <ac:chgData name="Abhishek Padwal" userId="22a257700564c16b" providerId="LiveId" clId="{9E62B13F-3A23-42EA-A515-89286A87115D}" dt="2026-02-17T18:13:20.481" v="36" actId="115"/>
          <ac:spMkLst>
            <pc:docMk/>
            <pc:sldMk cId="0" sldId="263"/>
            <ac:spMk id="3" creationId="{00000000-0000-0000-0000-000000000000}"/>
          </ac:spMkLst>
        </pc:spChg>
      </pc:sldChg>
      <pc:sldChg chg="modSp mod">
        <pc:chgData name="Abhishek Padwal" userId="22a257700564c16b" providerId="LiveId" clId="{9E62B13F-3A23-42EA-A515-89286A87115D}" dt="2026-02-17T18:13:17.765" v="35" actId="115"/>
        <pc:sldMkLst>
          <pc:docMk/>
          <pc:sldMk cId="0" sldId="264"/>
        </pc:sldMkLst>
        <pc:spChg chg="mod">
          <ac:chgData name="Abhishek Padwal" userId="22a257700564c16b" providerId="LiveId" clId="{9E62B13F-3A23-42EA-A515-89286A87115D}" dt="2026-02-17T18:13:17.765" v="35" actId="115"/>
          <ac:spMkLst>
            <pc:docMk/>
            <pc:sldMk cId="0" sldId="264"/>
            <ac:spMk id="4" creationId="{00000000-0000-0000-0000-000000000000}"/>
          </ac:spMkLst>
        </pc:spChg>
        <pc:spChg chg="mod">
          <ac:chgData name="Abhishek Padwal" userId="22a257700564c16b" providerId="LiveId" clId="{9E62B13F-3A23-42EA-A515-89286A87115D}" dt="2026-02-17T18:12:06.408" v="14" actId="1076"/>
          <ac:spMkLst>
            <pc:docMk/>
            <pc:sldMk cId="0" sldId="264"/>
            <ac:spMk id="5" creationId="{00000000-0000-0000-0000-000000000000}"/>
          </ac:spMkLst>
        </pc:spChg>
        <pc:spChg chg="mod">
          <ac:chgData name="Abhishek Padwal" userId="22a257700564c16b" providerId="LiveId" clId="{9E62B13F-3A23-42EA-A515-89286A87115D}" dt="2026-02-17T18:12:13.715" v="20" actId="14100"/>
          <ac:spMkLst>
            <pc:docMk/>
            <pc:sldMk cId="0" sldId="264"/>
            <ac:spMk id="6" creationId="{00000000-0000-0000-0000-000000000000}"/>
          </ac:spMkLst>
        </pc:spChg>
      </pc:sldChg>
      <pc:sldChg chg="modSp mod">
        <pc:chgData name="Abhishek Padwal" userId="22a257700564c16b" providerId="LiveId" clId="{9E62B13F-3A23-42EA-A515-89286A87115D}" dt="2026-02-17T18:13:14.744" v="34" actId="115"/>
        <pc:sldMkLst>
          <pc:docMk/>
          <pc:sldMk cId="0" sldId="265"/>
        </pc:sldMkLst>
        <pc:spChg chg="mod">
          <ac:chgData name="Abhishek Padwal" userId="22a257700564c16b" providerId="LiveId" clId="{9E62B13F-3A23-42EA-A515-89286A87115D}" dt="2026-02-17T18:13:14.744" v="34" actId="115"/>
          <ac:spMkLst>
            <pc:docMk/>
            <pc:sldMk cId="0" sldId="265"/>
            <ac:spMk id="3" creationId="{00000000-0000-0000-0000-000000000000}"/>
          </ac:spMkLst>
        </pc:spChg>
      </pc:sldChg>
      <pc:sldChg chg="modSp mod">
        <pc:chgData name="Abhishek Padwal" userId="22a257700564c16b" providerId="LiveId" clId="{9E62B13F-3A23-42EA-A515-89286A87115D}" dt="2026-02-17T18:13:11.494" v="33" actId="115"/>
        <pc:sldMkLst>
          <pc:docMk/>
          <pc:sldMk cId="0" sldId="266"/>
        </pc:sldMkLst>
        <pc:spChg chg="mod">
          <ac:chgData name="Abhishek Padwal" userId="22a257700564c16b" providerId="LiveId" clId="{9E62B13F-3A23-42EA-A515-89286A87115D}" dt="2026-02-17T18:13:11.494" v="33" actId="115"/>
          <ac:spMkLst>
            <pc:docMk/>
            <pc:sldMk cId="0" sldId="266"/>
            <ac:spMk id="4" creationId="{00000000-0000-0000-0000-000000000000}"/>
          </ac:spMkLst>
        </pc:spChg>
      </pc:sldChg>
      <pc:sldChg chg="modSp mod">
        <pc:chgData name="Abhishek Padwal" userId="22a257700564c16b" providerId="LiveId" clId="{9E62B13F-3A23-42EA-A515-89286A87115D}" dt="2026-02-17T18:13:07.786" v="32" actId="115"/>
        <pc:sldMkLst>
          <pc:docMk/>
          <pc:sldMk cId="0" sldId="267"/>
        </pc:sldMkLst>
        <pc:spChg chg="mod">
          <ac:chgData name="Abhishek Padwal" userId="22a257700564c16b" providerId="LiveId" clId="{9E62B13F-3A23-42EA-A515-89286A87115D}" dt="2026-02-17T18:13:07.786" v="32" actId="115"/>
          <ac:spMkLst>
            <pc:docMk/>
            <pc:sldMk cId="0" sldId="267"/>
            <ac:spMk id="6" creationId="{00000000-0000-0000-0000-000000000000}"/>
          </ac:spMkLst>
        </pc:spChg>
      </pc:sldChg>
      <pc:sldChg chg="addSp delSp modSp mod">
        <pc:chgData name="Abhishek Padwal" userId="22a257700564c16b" providerId="LiveId" clId="{9E62B13F-3A23-42EA-A515-89286A87115D}" dt="2026-02-17T18:12:56.438" v="29" actId="1076"/>
        <pc:sldMkLst>
          <pc:docMk/>
          <pc:sldMk cId="0" sldId="268"/>
        </pc:sldMkLst>
        <pc:spChg chg="mod">
          <ac:chgData name="Abhishek Padwal" userId="22a257700564c16b" providerId="LiveId" clId="{9E62B13F-3A23-42EA-A515-89286A87115D}" dt="2026-02-17T18:12:27.074" v="23" actId="14100"/>
          <ac:spMkLst>
            <pc:docMk/>
            <pc:sldMk cId="0" sldId="268"/>
            <ac:spMk id="3" creationId="{00000000-0000-0000-0000-000000000000}"/>
          </ac:spMkLst>
        </pc:spChg>
        <pc:graphicFrameChg chg="del">
          <ac:chgData name="Abhishek Padwal" userId="22a257700564c16b" providerId="LiveId" clId="{9E62B13F-3A23-42EA-A515-89286A87115D}" dt="2026-02-17T18:12:36.012" v="25" actId="478"/>
          <ac:graphicFrameMkLst>
            <pc:docMk/>
            <pc:sldMk cId="0" sldId="268"/>
            <ac:graphicFrameMk id="2" creationId="{00000000-0000-0000-0000-000000000000}"/>
          </ac:graphicFrameMkLst>
        </pc:graphicFrameChg>
        <pc:picChg chg="add mod">
          <ac:chgData name="Abhishek Padwal" userId="22a257700564c16b" providerId="LiveId" clId="{9E62B13F-3A23-42EA-A515-89286A87115D}" dt="2026-02-17T18:12:56.438" v="29" actId="1076"/>
          <ac:picMkLst>
            <pc:docMk/>
            <pc:sldMk cId="0" sldId="268"/>
            <ac:picMk id="6" creationId="{59873B1A-DAED-E03B-0E2F-BD7D84344073}"/>
          </ac:picMkLst>
        </pc:picChg>
      </pc:sldChg>
      <pc:sldChg chg="modSp mod">
        <pc:chgData name="Abhishek Padwal" userId="22a257700564c16b" providerId="LiveId" clId="{9E62B13F-3A23-42EA-A515-89286A87115D}" dt="2026-02-17T18:13:00.571" v="30" actId="115"/>
        <pc:sldMkLst>
          <pc:docMk/>
          <pc:sldMk cId="0" sldId="269"/>
        </pc:sldMkLst>
        <pc:spChg chg="mod">
          <ac:chgData name="Abhishek Padwal" userId="22a257700564c16b" providerId="LiveId" clId="{9E62B13F-3A23-42EA-A515-89286A87115D}" dt="2026-02-17T18:13:00.571" v="30" actId="115"/>
          <ac:spMkLst>
            <pc:docMk/>
            <pc:sldMk cId="0" sldId="269"/>
            <ac:spMk id="3" creationId="{00000000-0000-0000-0000-000000000000}"/>
          </ac:spMkLst>
        </pc:spChg>
      </pc:sldChg>
      <pc:sldChg chg="modSp mod">
        <pc:chgData name="Abhishek Padwal" userId="22a257700564c16b" providerId="LiveId" clId="{9E62B13F-3A23-42EA-A515-89286A87115D}" dt="2026-02-17T18:13:03.556" v="31" actId="115"/>
        <pc:sldMkLst>
          <pc:docMk/>
          <pc:sldMk cId="0" sldId="270"/>
        </pc:sldMkLst>
        <pc:spChg chg="mod">
          <ac:chgData name="Abhishek Padwal" userId="22a257700564c16b" providerId="LiveId" clId="{9E62B13F-3A23-42EA-A515-89286A87115D}" dt="2026-02-17T18:13:03.556" v="31" actId="115"/>
          <ac:spMkLst>
            <pc:docMk/>
            <pc:sldMk cId="0" sldId="270"/>
            <ac:spMk id="3" creationId="{00000000-0000-0000-0000-000000000000}"/>
          </ac:spMkLst>
        </pc:spChg>
      </pc:sldChg>
      <pc:sldChg chg="modSp mod">
        <pc:chgData name="Abhishek Padwal" userId="22a257700564c16b" providerId="LiveId" clId="{9E62B13F-3A23-42EA-A515-89286A87115D}" dt="2026-02-17T18:12:31.962" v="24" actId="14100"/>
        <pc:sldMkLst>
          <pc:docMk/>
          <pc:sldMk cId="0" sldId="271"/>
        </pc:sldMkLst>
        <pc:spChg chg="mod">
          <ac:chgData name="Abhishek Padwal" userId="22a257700564c16b" providerId="LiveId" clId="{9E62B13F-3A23-42EA-A515-89286A87115D}" dt="2026-02-17T18:12:31.962" v="24" actId="14100"/>
          <ac:spMkLst>
            <pc:docMk/>
            <pc:sldMk cId="0" sldId="271"/>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ijettjournal.org/archive/ijett-v73i11p116" TargetMode="External"/><Relationship Id="rId7" Type="http://schemas.openxmlformats.org/officeDocument/2006/relationships/image" Target="../media/image3.jpeg"/><Relationship Id="rId2" Type="http://schemas.openxmlformats.org/officeDocument/2006/relationships/hyperlink" Target="https://www.ijert.org/phishing-detection-using-machine-learning-based-url-analysis-a-survey" TargetMode="External"/><Relationship Id="rId1" Type="http://schemas.openxmlformats.org/officeDocument/2006/relationships/slideLayout" Target="../slideLayouts/slideLayout7.xml"/><Relationship Id="rId6" Type="http://schemas.openxmlformats.org/officeDocument/2006/relationships/hyperlink" Target="https://ieeexplore.ieee.org/document/11035429/" TargetMode="External"/><Relationship Id="rId5" Type="http://schemas.openxmlformats.org/officeDocument/2006/relationships/hyperlink" Target="https://www.ijsrtjournal.com/article/A+Review+of+Machine+Learning+Techniques+for+Phishing+Detection" TargetMode="External"/><Relationship Id="rId4" Type="http://schemas.openxmlformats.org/officeDocument/2006/relationships/hyperlink" Target="https://papers.ssrn.com/sol3/papers.cfm?abstract_id=5336075"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92385" y="3004740"/>
            <a:ext cx="18288000" cy="3634072"/>
          </a:xfrm>
          <a:prstGeom prst="rect">
            <a:avLst/>
          </a:prstGeom>
        </p:spPr>
        <p:txBody>
          <a:bodyPr lIns="0" tIns="0" rIns="0" bIns="0" rtlCol="0" anchor="t">
            <a:spAutoFit/>
          </a:bodyPr>
          <a:lstStyle/>
          <a:p>
            <a:pPr algn="ctr">
              <a:lnSpc>
                <a:spcPts val="3975"/>
              </a:lnSpc>
            </a:pPr>
            <a:endParaRPr i="1" dirty="0"/>
          </a:p>
          <a:p>
            <a:pPr algn="ctr">
              <a:lnSpc>
                <a:spcPts val="4236"/>
              </a:lnSpc>
            </a:pPr>
            <a:r>
              <a:rPr lang="en-US" sz="3025" b="1" u="sng" dirty="0">
                <a:solidFill>
                  <a:srgbClr val="FF3131"/>
                </a:solidFill>
                <a:latin typeface="DM Sans Bold"/>
                <a:ea typeface="DM Sans Bold"/>
                <a:cs typeface="DM Sans Bold"/>
                <a:sym typeface="DM Sans Bold"/>
              </a:rPr>
              <a:t>Problem statement</a:t>
            </a:r>
            <a:r>
              <a:rPr lang="en-US" sz="3025" dirty="0">
                <a:solidFill>
                  <a:srgbClr val="FF3131"/>
                </a:solidFill>
                <a:latin typeface="DM Sans"/>
                <a:ea typeface="DM Sans"/>
                <a:cs typeface="DM Sans"/>
                <a:sym typeface="DM Sans"/>
              </a:rPr>
              <a:t> </a:t>
            </a:r>
            <a:r>
              <a:rPr lang="en-US" sz="3025" b="1" dirty="0">
                <a:solidFill>
                  <a:srgbClr val="000000"/>
                </a:solidFill>
                <a:latin typeface="DM Sans Bold"/>
                <a:ea typeface="DM Sans Bold"/>
                <a:cs typeface="DM Sans Bold"/>
                <a:sym typeface="DM Sans Bold"/>
              </a:rPr>
              <a:t>– AI Phishing Threat Monitor</a:t>
            </a:r>
          </a:p>
          <a:p>
            <a:pPr algn="ctr">
              <a:lnSpc>
                <a:spcPts val="3975"/>
              </a:lnSpc>
            </a:pPr>
            <a:endParaRPr lang="en-US" sz="3025" b="1" dirty="0">
              <a:solidFill>
                <a:srgbClr val="000000"/>
              </a:solidFill>
              <a:latin typeface="DM Sans Bold"/>
              <a:ea typeface="DM Sans Bold"/>
              <a:cs typeface="DM Sans Bold"/>
              <a:sym typeface="DM Sans Bold"/>
            </a:endParaRPr>
          </a:p>
          <a:p>
            <a:pPr algn="ctr">
              <a:lnSpc>
                <a:spcPts val="4236"/>
              </a:lnSpc>
            </a:pPr>
            <a:r>
              <a:rPr lang="en-US" sz="3025" b="1" u="sng" dirty="0">
                <a:solidFill>
                  <a:srgbClr val="FF3131"/>
                </a:solidFill>
                <a:latin typeface="DM Sans Bold"/>
                <a:ea typeface="DM Sans Bold"/>
                <a:cs typeface="DM Sans Bold"/>
                <a:sym typeface="DM Sans Bold"/>
              </a:rPr>
              <a:t>PS Domain</a:t>
            </a:r>
            <a:r>
              <a:rPr lang="en-US" sz="3025" b="1" dirty="0">
                <a:solidFill>
                  <a:srgbClr val="000000"/>
                </a:solidFill>
                <a:latin typeface="DM Sans Bold"/>
                <a:ea typeface="DM Sans Bold"/>
                <a:cs typeface="DM Sans Bold"/>
                <a:sym typeface="DM Sans Bold"/>
              </a:rPr>
              <a:t> :- AI/ML and Cyber Security</a:t>
            </a:r>
          </a:p>
          <a:p>
            <a:pPr algn="ctr">
              <a:lnSpc>
                <a:spcPts val="3975"/>
              </a:lnSpc>
            </a:pPr>
            <a:endParaRPr lang="en-US" sz="3025" b="1" dirty="0">
              <a:solidFill>
                <a:srgbClr val="000000"/>
              </a:solidFill>
              <a:latin typeface="DM Sans Bold"/>
              <a:ea typeface="DM Sans Bold"/>
              <a:cs typeface="DM Sans Bold"/>
              <a:sym typeface="DM Sans Bold"/>
            </a:endParaRPr>
          </a:p>
          <a:p>
            <a:pPr algn="ctr">
              <a:lnSpc>
                <a:spcPts val="4105"/>
              </a:lnSpc>
            </a:pPr>
            <a:r>
              <a:rPr lang="en-US" sz="2932" b="1" u="sng" dirty="0">
                <a:solidFill>
                  <a:srgbClr val="FF3131"/>
                </a:solidFill>
                <a:latin typeface="DM Sans Bold"/>
                <a:ea typeface="DM Sans Bold"/>
                <a:cs typeface="DM Sans Bold"/>
                <a:sym typeface="DM Sans Bold"/>
              </a:rPr>
              <a:t>Team Name</a:t>
            </a:r>
            <a:r>
              <a:rPr lang="en-US" sz="2932" b="1" dirty="0">
                <a:solidFill>
                  <a:srgbClr val="000000"/>
                </a:solidFill>
                <a:latin typeface="DM Sans Bold"/>
                <a:ea typeface="DM Sans Bold"/>
                <a:cs typeface="DM Sans Bold"/>
                <a:sym typeface="DM Sans Bold"/>
              </a:rPr>
              <a:t>: </a:t>
            </a:r>
            <a:r>
              <a:rPr lang="en-US" sz="2932" b="1" dirty="0" err="1">
                <a:solidFill>
                  <a:srgbClr val="000000"/>
                </a:solidFill>
                <a:latin typeface="DM Sans Bold"/>
                <a:ea typeface="DM Sans Bold"/>
                <a:cs typeface="DM Sans Bold"/>
                <a:sym typeface="DM Sans Bold"/>
              </a:rPr>
              <a:t>SimonSaysCode</a:t>
            </a:r>
            <a:r>
              <a:rPr lang="en-US" sz="2932" b="1" dirty="0">
                <a:solidFill>
                  <a:srgbClr val="000000"/>
                </a:solidFill>
                <a:latin typeface="DM Sans Bold"/>
                <a:ea typeface="DM Sans Bold"/>
                <a:cs typeface="DM Sans Bold"/>
                <a:sym typeface="DM Sans Bold"/>
              </a:rPr>
              <a:t> </a:t>
            </a:r>
          </a:p>
          <a:p>
            <a:pPr algn="ctr">
              <a:lnSpc>
                <a:spcPts val="3975"/>
              </a:lnSpc>
              <a:spcBef>
                <a:spcPct val="0"/>
              </a:spcBef>
            </a:pPr>
            <a:endParaRPr lang="en-US" sz="2932" b="1" dirty="0">
              <a:solidFill>
                <a:srgbClr val="000000"/>
              </a:solidFill>
              <a:latin typeface="DM Sans Bold"/>
              <a:ea typeface="DM Sans Bold"/>
              <a:cs typeface="DM Sans Bold"/>
              <a:sym typeface="DM Sans Bold"/>
            </a:endParaRPr>
          </a:p>
        </p:txBody>
      </p:sp>
      <p:sp>
        <p:nvSpPr>
          <p:cNvPr id="7" name="TextBox 7"/>
          <p:cNvSpPr txBox="1"/>
          <p:nvPr/>
        </p:nvSpPr>
        <p:spPr>
          <a:xfrm>
            <a:off x="2667000" y="2356151"/>
            <a:ext cx="12769230" cy="894756"/>
          </a:xfrm>
          <a:prstGeom prst="rect">
            <a:avLst/>
          </a:prstGeom>
        </p:spPr>
        <p:txBody>
          <a:bodyPr wrap="square" lIns="0" tIns="0" rIns="0" bIns="0" rtlCol="0" anchor="t">
            <a:spAutoFit/>
          </a:bodyPr>
          <a:lstStyle/>
          <a:p>
            <a:pPr algn="ctr">
              <a:lnSpc>
                <a:spcPts val="7382"/>
              </a:lnSpc>
              <a:spcBef>
                <a:spcPct val="0"/>
              </a:spcBef>
            </a:pPr>
            <a:r>
              <a:rPr lang="en-US" sz="5273" b="1" dirty="0">
                <a:solidFill>
                  <a:srgbClr val="000000"/>
                </a:solidFill>
                <a:latin typeface="Canva Sans Bold"/>
                <a:ea typeface="Canva Sans Bold"/>
                <a:cs typeface="Canva Sans Bold"/>
                <a:sym typeface="Canva Sans Bold"/>
              </a:rPr>
              <a:t>Symbiosis Skill Hackathon (SSH-2026)</a:t>
            </a:r>
          </a:p>
        </p:txBody>
      </p:sp>
      <p:sp>
        <p:nvSpPr>
          <p:cNvPr id="9" name="TextBox 9"/>
          <p:cNvSpPr txBox="1"/>
          <p:nvPr/>
        </p:nvSpPr>
        <p:spPr>
          <a:xfrm>
            <a:off x="6020437" y="6638812"/>
            <a:ext cx="6247126" cy="3191899"/>
          </a:xfrm>
          <a:prstGeom prst="rect">
            <a:avLst/>
          </a:prstGeom>
        </p:spPr>
        <p:txBody>
          <a:bodyPr lIns="0" tIns="0" rIns="0" bIns="0" rtlCol="0" anchor="t">
            <a:spAutoFit/>
          </a:bodyPr>
          <a:lstStyle/>
          <a:p>
            <a:pPr algn="l">
              <a:lnSpc>
                <a:spcPts val="4193"/>
              </a:lnSpc>
            </a:pPr>
            <a:r>
              <a:rPr lang="en-US" sz="2995" b="1" dirty="0">
                <a:solidFill>
                  <a:srgbClr val="000000"/>
                </a:solidFill>
                <a:latin typeface="Montserrat Bold"/>
                <a:ea typeface="Montserrat Bold"/>
                <a:cs typeface="Montserrat Bold"/>
                <a:sym typeface="Montserrat Bold"/>
              </a:rPr>
              <a:t>Team Leader -</a:t>
            </a:r>
            <a:r>
              <a:rPr lang="en-US" sz="2995" dirty="0">
                <a:solidFill>
                  <a:srgbClr val="000000"/>
                </a:solidFill>
                <a:latin typeface="Montserrat"/>
                <a:ea typeface="Montserrat"/>
                <a:cs typeface="Montserrat"/>
                <a:sym typeface="Montserrat"/>
              </a:rPr>
              <a:t> </a:t>
            </a:r>
          </a:p>
          <a:p>
            <a:pPr algn="l">
              <a:lnSpc>
                <a:spcPts val="4193"/>
              </a:lnSpc>
            </a:pPr>
            <a:r>
              <a:rPr lang="en-US" sz="2995" dirty="0">
                <a:solidFill>
                  <a:srgbClr val="000000"/>
                </a:solidFill>
                <a:latin typeface="Montserrat"/>
                <a:ea typeface="Montserrat"/>
                <a:cs typeface="Montserrat"/>
                <a:sym typeface="Montserrat"/>
              </a:rPr>
              <a:t>                      Shripurna Patil</a:t>
            </a:r>
          </a:p>
          <a:p>
            <a:pPr algn="ctr">
              <a:lnSpc>
                <a:spcPts val="4193"/>
              </a:lnSpc>
            </a:pPr>
            <a:endParaRPr lang="en-US" sz="2995" dirty="0">
              <a:solidFill>
                <a:srgbClr val="000000"/>
              </a:solidFill>
              <a:latin typeface="Montserrat"/>
              <a:ea typeface="Montserrat"/>
              <a:cs typeface="Montserrat"/>
              <a:sym typeface="Montserrat"/>
            </a:endParaRPr>
          </a:p>
          <a:p>
            <a:pPr algn="l">
              <a:lnSpc>
                <a:spcPts val="4193"/>
              </a:lnSpc>
            </a:pPr>
            <a:r>
              <a:rPr lang="en-US" sz="2995" b="1" dirty="0">
                <a:solidFill>
                  <a:srgbClr val="000000"/>
                </a:solidFill>
                <a:latin typeface="Montserrat Bold"/>
                <a:ea typeface="Montserrat Bold"/>
                <a:cs typeface="Montserrat Bold"/>
                <a:sym typeface="Montserrat Bold"/>
              </a:rPr>
              <a:t>Members -</a:t>
            </a:r>
            <a:r>
              <a:rPr lang="en-US" sz="2995" dirty="0">
                <a:solidFill>
                  <a:srgbClr val="000000"/>
                </a:solidFill>
                <a:latin typeface="Montserrat"/>
                <a:ea typeface="Montserrat"/>
                <a:cs typeface="Montserrat"/>
                <a:sym typeface="Montserrat"/>
              </a:rPr>
              <a:t>      Ribhav Nale</a:t>
            </a:r>
          </a:p>
          <a:p>
            <a:pPr algn="l">
              <a:lnSpc>
                <a:spcPts val="4193"/>
              </a:lnSpc>
            </a:pPr>
            <a:r>
              <a:rPr lang="en-US" sz="2995" dirty="0">
                <a:solidFill>
                  <a:srgbClr val="000000"/>
                </a:solidFill>
                <a:latin typeface="Montserrat"/>
                <a:ea typeface="Montserrat"/>
                <a:cs typeface="Montserrat"/>
                <a:sym typeface="Montserrat"/>
              </a:rPr>
              <a:t>                      	Rudra </a:t>
            </a:r>
            <a:r>
              <a:rPr lang="en-US" sz="2995" dirty="0" err="1">
                <a:solidFill>
                  <a:srgbClr val="000000"/>
                </a:solidFill>
                <a:latin typeface="Montserrat"/>
                <a:ea typeface="Montserrat"/>
                <a:cs typeface="Montserrat"/>
                <a:sym typeface="Montserrat"/>
              </a:rPr>
              <a:t>Mangate</a:t>
            </a:r>
            <a:endParaRPr lang="en-US" sz="2995" dirty="0">
              <a:solidFill>
                <a:srgbClr val="000000"/>
              </a:solidFill>
              <a:latin typeface="Montserrat"/>
              <a:ea typeface="Montserrat"/>
              <a:cs typeface="Montserrat"/>
              <a:sym typeface="Montserrat"/>
            </a:endParaRPr>
          </a:p>
          <a:p>
            <a:pPr algn="ctr">
              <a:lnSpc>
                <a:spcPts val="4193"/>
              </a:lnSpc>
              <a:spcBef>
                <a:spcPct val="0"/>
              </a:spcBef>
            </a:pPr>
            <a:endParaRPr lang="en-US" sz="2995" dirty="0">
              <a:solidFill>
                <a:srgbClr val="000000"/>
              </a:solidFill>
              <a:latin typeface="Montserrat"/>
              <a:ea typeface="Montserrat"/>
              <a:cs typeface="Montserrat"/>
              <a:sym typeface="Montserrat"/>
            </a:endParaRPr>
          </a:p>
        </p:txBody>
      </p:sp>
      <p:pic>
        <p:nvPicPr>
          <p:cNvPr id="6146" name="Picture 2" descr="Universities in India | Symbiosis University Indore.">
            <a:extLst>
              <a:ext uri="{FF2B5EF4-FFF2-40B4-BE49-F238E27FC236}">
                <a16:creationId xmlns:a16="http://schemas.microsoft.com/office/drawing/2014/main" id="{93B14E89-E497-19D1-E307-12892B77E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9215" y="66199"/>
            <a:ext cx="7924800" cy="24963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519436" y="459061"/>
            <a:ext cx="6748764" cy="828042"/>
          </a:xfrm>
          <a:prstGeom prst="rect">
            <a:avLst/>
          </a:prstGeom>
        </p:spPr>
        <p:txBody>
          <a:bodyPr wrap="square" lIns="0" tIns="0" rIns="0" bIns="0" rtlCol="0" anchor="t">
            <a:spAutoFit/>
          </a:bodyPr>
          <a:lstStyle/>
          <a:p>
            <a:pPr algn="ctr">
              <a:lnSpc>
                <a:spcPts val="6859"/>
              </a:lnSpc>
              <a:spcBef>
                <a:spcPct val="0"/>
              </a:spcBef>
            </a:pPr>
            <a:r>
              <a:rPr lang="en-US" sz="4899" b="1" u="sng" dirty="0">
                <a:solidFill>
                  <a:srgbClr val="000000"/>
                </a:solidFill>
                <a:latin typeface="Montserrat Bold"/>
                <a:ea typeface="Montserrat Bold"/>
                <a:cs typeface="Montserrat Bold"/>
                <a:sym typeface="Montserrat Bold"/>
              </a:rPr>
              <a:t>Problem Statement</a:t>
            </a:r>
          </a:p>
        </p:txBody>
      </p:sp>
      <p:sp>
        <p:nvSpPr>
          <p:cNvPr id="3" name="TextBox 3"/>
          <p:cNvSpPr txBox="1"/>
          <p:nvPr/>
        </p:nvSpPr>
        <p:spPr>
          <a:xfrm>
            <a:off x="974873" y="1714500"/>
            <a:ext cx="16338254" cy="7902997"/>
          </a:xfrm>
          <a:prstGeom prst="rect">
            <a:avLst/>
          </a:prstGeom>
        </p:spPr>
        <p:txBody>
          <a:bodyPr lIns="0" tIns="0" rIns="0" bIns="0" rtlCol="0" anchor="t">
            <a:spAutoFit/>
          </a:bodyPr>
          <a:lstStyle/>
          <a:p>
            <a:pPr>
              <a:lnSpc>
                <a:spcPts val="3863"/>
              </a:lnSpc>
              <a:spcBef>
                <a:spcPct val="0"/>
              </a:spcBef>
            </a:pPr>
            <a:r>
              <a:rPr lang="en-US" sz="2600" dirty="0"/>
              <a:t>Phishing remains one of the most dangerous and widespread cyber threats globally. Studies consistently show that over 90% of cyberattacks begin with phishing emails or deceptive URL’s or messages. Modern attackers don’t hack systems — they hack human psychology. They exploit fear, urgency, trust, and authority to trick users into giving access themselves. This is called social engineering.</a:t>
            </a:r>
          </a:p>
          <a:p>
            <a:pPr>
              <a:lnSpc>
                <a:spcPts val="3863"/>
              </a:lnSpc>
              <a:spcBef>
                <a:spcPct val="0"/>
              </a:spcBef>
            </a:pPr>
            <a:endParaRPr lang="en-US" sz="2800" dirty="0"/>
          </a:p>
          <a:p>
            <a:pPr marL="514350" indent="-514350">
              <a:lnSpc>
                <a:spcPts val="3863"/>
              </a:lnSpc>
              <a:spcBef>
                <a:spcPct val="0"/>
              </a:spcBef>
              <a:buFont typeface="+mj-lt"/>
              <a:buAutoNum type="arabicPeriod"/>
            </a:pPr>
            <a:r>
              <a:rPr lang="en-US" sz="2800" b="1" dirty="0"/>
              <a:t>Rapid Rise of Multilingual Phishing Attacks</a:t>
            </a:r>
          </a:p>
          <a:p>
            <a:r>
              <a:rPr lang="en-US" sz="2600" dirty="0"/>
              <a:t>Phishing campaigns are no longer limited to English. Attackers now use AI-powered translation tools and generative AI to create highly convincing phishing messages in regional and local languages. This makes detection significantly harder, especially in diverse countries like India where users communicate in multiple languages.</a:t>
            </a:r>
          </a:p>
          <a:p>
            <a:r>
              <a:rPr lang="en-US" sz="2600" dirty="0"/>
              <a:t>Traditional detection systems are often trained primarily on English datasets, making them less effective against multilingual or mixed-language (code-switched) phishing content.</a:t>
            </a:r>
          </a:p>
          <a:p>
            <a:pPr marL="514350" indent="-514350">
              <a:buFont typeface="+mj-lt"/>
              <a:buAutoNum type="arabicPeriod" startAt="2"/>
            </a:pPr>
            <a:r>
              <a:rPr lang="en-US" sz="2800" b="1" dirty="0"/>
              <a:t>Lack of Explainability in Detection</a:t>
            </a:r>
          </a:p>
          <a:p>
            <a:r>
              <a:rPr lang="en-US" sz="2600" dirty="0"/>
              <a:t>Most existing phishing detection tools simply label content as </a:t>
            </a:r>
            <a:r>
              <a:rPr lang="en-US" sz="2600" b="1" dirty="0"/>
              <a:t>“Safe” or “Malicious.”</a:t>
            </a:r>
            <a:br>
              <a:rPr lang="en-US" sz="2600" dirty="0"/>
            </a:br>
            <a:r>
              <a:rPr lang="en-US" sz="2600" dirty="0"/>
              <a:t>However, they do not explain:</a:t>
            </a:r>
          </a:p>
          <a:p>
            <a:pPr marL="514350" indent="-514350">
              <a:buFont typeface="+mj-lt"/>
              <a:buAutoNum type="arabicPeriod"/>
            </a:pPr>
            <a:r>
              <a:rPr lang="en-US" sz="2600" dirty="0"/>
              <a:t>Why it is considered phishing</a:t>
            </a:r>
          </a:p>
          <a:p>
            <a:pPr marL="514350" indent="-514350">
              <a:buFont typeface="+mj-lt"/>
              <a:buAutoNum type="arabicPeriod"/>
            </a:pPr>
            <a:r>
              <a:rPr lang="en-US" sz="2600" dirty="0"/>
              <a:t>Which words, links, or patterns triggered the alert</a:t>
            </a:r>
          </a:p>
          <a:p>
            <a:pPr marL="514350" indent="-514350">
              <a:buFont typeface="+mj-lt"/>
              <a:buAutoNum type="arabicPeriod"/>
            </a:pPr>
            <a:r>
              <a:rPr lang="en-US" sz="2600" dirty="0"/>
              <a:t>What specific risks are involved</a:t>
            </a:r>
          </a:p>
          <a:p>
            <a:pPr>
              <a:lnSpc>
                <a:spcPts val="3863"/>
              </a:lnSpc>
              <a:spcBef>
                <a:spcPct val="0"/>
              </a:spcBef>
            </a:pPr>
            <a:endParaRPr lang="en-US" sz="3000" b="1" dirty="0">
              <a:solidFill>
                <a:srgbClr val="000000"/>
              </a:solidFill>
              <a:latin typeface="Montserrat"/>
              <a:ea typeface="Montserrat"/>
              <a:cs typeface="Montserrat"/>
              <a:sym typeface="Montserrat"/>
            </a:endParaRPr>
          </a:p>
        </p:txBody>
      </p:sp>
      <p:pic>
        <p:nvPicPr>
          <p:cNvPr id="5122" name="Picture 2" descr="Symbiosis University of Applied Sciences Indore: Skill-Based UG and PG  Programs with Strong Placements – AUBSP">
            <a:extLst>
              <a:ext uri="{FF2B5EF4-FFF2-40B4-BE49-F238E27FC236}">
                <a16:creationId xmlns:a16="http://schemas.microsoft.com/office/drawing/2014/main" id="{D0511C4D-1B95-1B59-8E3F-9401F358BE3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182" r="22333"/>
          <a:stretch>
            <a:fillRect/>
          </a:stretch>
        </p:blipFill>
        <p:spPr bwMode="auto">
          <a:xfrm>
            <a:off x="0" y="-21040"/>
            <a:ext cx="1600200" cy="15831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257300"/>
            <a:ext cx="16230600" cy="3548023"/>
          </a:xfrm>
          <a:prstGeom prst="rect">
            <a:avLst/>
          </a:prstGeom>
        </p:spPr>
        <p:txBody>
          <a:bodyPr lIns="0" tIns="0" rIns="0" bIns="0" rtlCol="0" anchor="t">
            <a:spAutoFit/>
          </a:bodyPr>
          <a:lstStyle/>
          <a:p>
            <a:pPr marL="514350" indent="-514350">
              <a:lnSpc>
                <a:spcPts val="3863"/>
              </a:lnSpc>
              <a:spcBef>
                <a:spcPct val="0"/>
              </a:spcBef>
              <a:buFont typeface="+mj-lt"/>
              <a:buAutoNum type="arabicPeriod" startAt="3"/>
            </a:pPr>
            <a:r>
              <a:rPr lang="en-IN" sz="2800" b="1" dirty="0"/>
              <a:t>No Real-Time Risk Awareness</a:t>
            </a:r>
          </a:p>
          <a:p>
            <a:r>
              <a:rPr lang="en-US" sz="2800" dirty="0"/>
              <a:t>Users often realize they were attacked </a:t>
            </a:r>
            <a:r>
              <a:rPr lang="en-US" sz="2800" b="1" dirty="0"/>
              <a:t>after</a:t>
            </a:r>
            <a:r>
              <a:rPr lang="en-US" sz="2800" dirty="0"/>
              <a:t> credentials are stolen.</a:t>
            </a:r>
            <a:br>
              <a:rPr lang="en-US" sz="2800" dirty="0"/>
            </a:br>
            <a:r>
              <a:rPr lang="en-US" sz="2800" dirty="0"/>
              <a:t>There is limited real-time contextual risk scoring that:</a:t>
            </a:r>
          </a:p>
          <a:p>
            <a:pPr marL="457200" indent="-457200">
              <a:buFont typeface="Arial" panose="020B0604020202020204" pitchFamily="34" charset="0"/>
              <a:buChar char="•"/>
            </a:pPr>
            <a:r>
              <a:rPr lang="en-US" sz="2800" dirty="0"/>
              <a:t>Warns users instantly</a:t>
            </a:r>
          </a:p>
          <a:p>
            <a:pPr marL="457200" indent="-457200">
              <a:buFont typeface="Arial" panose="020B0604020202020204" pitchFamily="34" charset="0"/>
              <a:buChar char="•"/>
            </a:pPr>
            <a:r>
              <a:rPr lang="en-US" sz="2800" dirty="0"/>
              <a:t>Shows severity levels</a:t>
            </a:r>
          </a:p>
          <a:p>
            <a:pPr marL="457200" indent="-457200">
              <a:buFont typeface="Arial" panose="020B0604020202020204" pitchFamily="34" charset="0"/>
              <a:buChar char="•"/>
            </a:pPr>
            <a:r>
              <a:rPr lang="en-US" sz="2800" dirty="0"/>
              <a:t>Provides immediate actionable guidance</a:t>
            </a:r>
          </a:p>
          <a:p>
            <a:pPr marL="457200" indent="-457200">
              <a:buFont typeface="Arial" panose="020B0604020202020204" pitchFamily="34" charset="0"/>
              <a:buChar char="•"/>
            </a:pPr>
            <a:r>
              <a:rPr lang="en-US" sz="2800" dirty="0"/>
              <a:t>Cybersecurity tools mostly work silently in the background instead of actively educating the user.</a:t>
            </a:r>
          </a:p>
          <a:p>
            <a:pPr>
              <a:lnSpc>
                <a:spcPts val="3863"/>
              </a:lnSpc>
              <a:spcBef>
                <a:spcPct val="0"/>
              </a:spcBef>
            </a:pPr>
            <a:endParaRPr lang="en-US" sz="2760" b="1" dirty="0">
              <a:solidFill>
                <a:srgbClr val="000000"/>
              </a:solidFill>
              <a:latin typeface="Montserrat"/>
              <a:ea typeface="Montserrat"/>
              <a:cs typeface="Montserrat"/>
              <a:sym typeface="Montserrat"/>
            </a:endParaRPr>
          </a:p>
        </p:txBody>
      </p:sp>
      <p:pic>
        <p:nvPicPr>
          <p:cNvPr id="3" name="Picture 2" descr="Symbiosis University of Applied Sciences Indore: Skill-Based UG and PG  Programs with Strong Placements – AUBSP">
            <a:extLst>
              <a:ext uri="{FF2B5EF4-FFF2-40B4-BE49-F238E27FC236}">
                <a16:creationId xmlns:a16="http://schemas.microsoft.com/office/drawing/2014/main" id="{6FD83C0C-37FF-861D-08DD-087FF97D3B8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182" r="22333"/>
          <a:stretch>
            <a:fillRect/>
          </a:stretch>
        </p:blipFill>
        <p:spPr bwMode="auto">
          <a:xfrm>
            <a:off x="0" y="-21040"/>
            <a:ext cx="1292115" cy="12783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0F07F9-2F4B-636A-84A1-8A1EFF57D1B6}"/>
              </a:ext>
            </a:extLst>
          </p:cNvPr>
          <p:cNvSpPr txBox="1"/>
          <p:nvPr/>
        </p:nvSpPr>
        <p:spPr>
          <a:xfrm>
            <a:off x="952500" y="2476500"/>
            <a:ext cx="16383000" cy="6124754"/>
          </a:xfrm>
          <a:prstGeom prst="rect">
            <a:avLst/>
          </a:prstGeom>
          <a:noFill/>
        </p:spPr>
        <p:txBody>
          <a:bodyPr wrap="square">
            <a:spAutoFit/>
          </a:bodyPr>
          <a:lstStyle/>
          <a:p>
            <a:pPr marL="514350" indent="-514350">
              <a:buFont typeface="+mj-lt"/>
              <a:buAutoNum type="arabicPeriod"/>
            </a:pPr>
            <a:r>
              <a:rPr lang="en-IN" sz="2800" b="1" dirty="0"/>
              <a:t>Financial Loss - </a:t>
            </a:r>
            <a:r>
              <a:rPr lang="en-US" sz="2800" dirty="0"/>
              <a:t>Phishing attacks directly lead to financial damage by stealing banking credentials, card details, UPI access, and crypto wallets. Victims often lose money within minutes, and recovery is difficult. For individuals and small businesses, even one successful attack can cause long-term economic instability.</a:t>
            </a:r>
          </a:p>
          <a:p>
            <a:pPr marL="514350" indent="-514350">
              <a:buFont typeface="+mj-lt"/>
              <a:buAutoNum type="arabicPeriod"/>
            </a:pPr>
            <a:r>
              <a:rPr lang="en-IN" sz="2800" b="1" dirty="0"/>
              <a:t>Identity Theft - </a:t>
            </a:r>
            <a:r>
              <a:rPr lang="en-US" sz="2800" dirty="0"/>
              <a:t>Attackers use phishing to collect personal data such as login credentials, government IDs, and OTPs. This stolen information can be misused to open fake accounts, take loans, or commit fraud under the victim’s name. Identity theft not only causes financial harm but also damages trust and reputation.</a:t>
            </a:r>
          </a:p>
          <a:p>
            <a:pPr marL="514350" indent="-514350">
              <a:buFont typeface="+mj-lt"/>
              <a:buAutoNum type="arabicPeriod"/>
            </a:pPr>
            <a:r>
              <a:rPr lang="en-IN" sz="2800" b="1" dirty="0"/>
              <a:t>Business Email Compromise (BEC) - </a:t>
            </a:r>
            <a:r>
              <a:rPr lang="en-US" sz="2800" dirty="0"/>
              <a:t>Phishing targeting organizations can result in Business Email Compromise, where attackers impersonate executives or vendors. Employees may unknowingly transfer large sums of money or share confidential data. These highly targeted attacks have caused companies to lose millions globally.</a:t>
            </a:r>
          </a:p>
          <a:p>
            <a:pPr marL="514350" indent="-514350">
              <a:buFont typeface="+mj-lt"/>
              <a:buAutoNum type="arabicPeriod"/>
            </a:pPr>
            <a:r>
              <a:rPr lang="en-IN" sz="2800" b="1" dirty="0"/>
              <a:t>Rise of AI-Generated Phishing - </a:t>
            </a:r>
            <a:r>
              <a:rPr lang="en-US" sz="2800" dirty="0"/>
              <a:t>With generative AI tools, phishing messages are now more convincing, personalized, and multilingual. Attackers can create error-free emails, mimic writing styles, and even use deepfake voice or video scams. Traditional security filters struggle to detect these advanced threats, increasing the urgency for AI-powered, explainable detection systems.</a:t>
            </a:r>
            <a:endParaRPr lang="en-IN" sz="2800" b="1" dirty="0"/>
          </a:p>
        </p:txBody>
      </p:sp>
      <p:sp>
        <p:nvSpPr>
          <p:cNvPr id="5" name="TextBox 4">
            <a:extLst>
              <a:ext uri="{FF2B5EF4-FFF2-40B4-BE49-F238E27FC236}">
                <a16:creationId xmlns:a16="http://schemas.microsoft.com/office/drawing/2014/main" id="{8FDA64F7-9E12-F225-4B82-C2B767DC5103}"/>
              </a:ext>
            </a:extLst>
          </p:cNvPr>
          <p:cNvSpPr txBox="1"/>
          <p:nvPr/>
        </p:nvSpPr>
        <p:spPr>
          <a:xfrm>
            <a:off x="4114800" y="1262553"/>
            <a:ext cx="9144000" cy="846386"/>
          </a:xfrm>
          <a:prstGeom prst="rect">
            <a:avLst/>
          </a:prstGeom>
          <a:noFill/>
        </p:spPr>
        <p:txBody>
          <a:bodyPr wrap="square">
            <a:spAutoFit/>
          </a:bodyPr>
          <a:lstStyle/>
          <a:p>
            <a:pPr algn="ctr"/>
            <a:r>
              <a:rPr lang="en-IN" sz="4900" b="1" dirty="0"/>
              <a:t>Why This Matters</a:t>
            </a:r>
          </a:p>
        </p:txBody>
      </p:sp>
      <p:pic>
        <p:nvPicPr>
          <p:cNvPr id="8" name="Picture 2" descr="Symbiosis University of Applied Sciences Indore: Skill-Based UG and PG  Programs with Strong Placements – AUBSP">
            <a:extLst>
              <a:ext uri="{FF2B5EF4-FFF2-40B4-BE49-F238E27FC236}">
                <a16:creationId xmlns:a16="http://schemas.microsoft.com/office/drawing/2014/main" id="{0E06A076-9049-5FB9-0CC7-3363767BC0BC}"/>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182" r="22333"/>
          <a:stretch>
            <a:fillRect/>
          </a:stretch>
        </p:blipFill>
        <p:spPr bwMode="auto">
          <a:xfrm>
            <a:off x="0" y="-21040"/>
            <a:ext cx="1297425" cy="1283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144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3143594" y="1477078"/>
            <a:ext cx="11985849" cy="9525"/>
          </a:xfrm>
          <a:prstGeom prst="line">
            <a:avLst/>
          </a:prstGeom>
          <a:ln w="19050" cap="flat">
            <a:solidFill>
              <a:srgbClr val="000000"/>
            </a:solidFill>
            <a:prstDash val="solid"/>
            <a:headEnd type="none" w="sm" len="sm"/>
            <a:tailEnd type="none" w="sm" len="sm"/>
          </a:ln>
        </p:spPr>
      </p:sp>
      <p:sp>
        <p:nvSpPr>
          <p:cNvPr id="3" name="TextBox 3"/>
          <p:cNvSpPr txBox="1"/>
          <p:nvPr/>
        </p:nvSpPr>
        <p:spPr>
          <a:xfrm>
            <a:off x="2801933" y="851476"/>
            <a:ext cx="12684134" cy="625602"/>
          </a:xfrm>
          <a:prstGeom prst="rect">
            <a:avLst/>
          </a:prstGeom>
        </p:spPr>
        <p:txBody>
          <a:bodyPr lIns="0" tIns="0" rIns="0" bIns="0" rtlCol="0" anchor="t">
            <a:spAutoFit/>
          </a:bodyPr>
          <a:lstStyle/>
          <a:p>
            <a:pPr algn="ctr">
              <a:lnSpc>
                <a:spcPts val="4704"/>
              </a:lnSpc>
            </a:pPr>
            <a:r>
              <a:rPr lang="en-US" sz="4900" b="1" dirty="0">
                <a:solidFill>
                  <a:srgbClr val="000000"/>
                </a:solidFill>
                <a:latin typeface="Montserrat Bold"/>
                <a:ea typeface="Montserrat Bold"/>
                <a:cs typeface="Montserrat Bold"/>
                <a:sym typeface="Montserrat Bold"/>
              </a:rPr>
              <a:t>Detailed Breakdown Of The Solution</a:t>
            </a:r>
          </a:p>
        </p:txBody>
      </p:sp>
      <p:sp>
        <p:nvSpPr>
          <p:cNvPr id="6" name="TextBox 5">
            <a:extLst>
              <a:ext uri="{FF2B5EF4-FFF2-40B4-BE49-F238E27FC236}">
                <a16:creationId xmlns:a16="http://schemas.microsoft.com/office/drawing/2014/main" id="{988945F0-5F69-850B-08E8-13888A0C0BDF}"/>
              </a:ext>
            </a:extLst>
          </p:cNvPr>
          <p:cNvSpPr txBox="1"/>
          <p:nvPr/>
        </p:nvSpPr>
        <p:spPr>
          <a:xfrm>
            <a:off x="990600" y="1638300"/>
            <a:ext cx="16306800" cy="8514648"/>
          </a:xfrm>
          <a:prstGeom prst="rect">
            <a:avLst/>
          </a:prstGeom>
          <a:noFill/>
        </p:spPr>
        <p:txBody>
          <a:bodyPr wrap="square">
            <a:spAutoFit/>
          </a:bodyPr>
          <a:lstStyle/>
          <a:p>
            <a:pPr marL="514350" indent="-514350">
              <a:buFont typeface="+mj-lt"/>
              <a:buAutoNum type="arabicPeriod"/>
            </a:pPr>
            <a:r>
              <a:rPr lang="en-US" sz="2800" b="1" dirty="0"/>
              <a:t>URL &amp; Email Scanning</a:t>
            </a:r>
            <a:br>
              <a:rPr lang="en-US" sz="2400" dirty="0"/>
            </a:br>
            <a:r>
              <a:rPr lang="en-US" sz="2400" dirty="0"/>
              <a:t>Real-time analysis of suspicious URLs and email content using AI models, domain reputation checks, and pattern detection to identify potential phishing attempts instantly.</a:t>
            </a:r>
          </a:p>
          <a:p>
            <a:pPr marL="514350" indent="-514350">
              <a:buFont typeface="+mj-lt"/>
              <a:buAutoNum type="arabicPeriod"/>
            </a:pPr>
            <a:r>
              <a:rPr lang="en-US" sz="2800" b="1" dirty="0"/>
              <a:t>Probability-Based Risk Scoring</a:t>
            </a:r>
            <a:br>
              <a:rPr lang="en-US" sz="2400" dirty="0"/>
            </a:br>
            <a:r>
              <a:rPr lang="en-US" sz="2400" dirty="0"/>
              <a:t>Instead of just “Safe” or “Phishing,” the system generates a dynamic probability score (e.g., 82% phishing likelihood) to show the severity level and help users make informed decisions.</a:t>
            </a:r>
          </a:p>
          <a:p>
            <a:pPr marL="514350" indent="-514350">
              <a:buFont typeface="+mj-lt"/>
              <a:buAutoNum type="arabicPeriod"/>
            </a:pPr>
            <a:r>
              <a:rPr lang="en-US" sz="2800" b="1" dirty="0"/>
              <a:t>Heatmap Visualization</a:t>
            </a:r>
            <a:br>
              <a:rPr lang="en-US" sz="2400" dirty="0"/>
            </a:br>
            <a:r>
              <a:rPr lang="en-US" sz="2400" dirty="0"/>
              <a:t>Interactive heatmaps highlight suspicious words, phrases, and links inside the message, allowing users to visually understand what triggered the alert.</a:t>
            </a:r>
          </a:p>
          <a:p>
            <a:pPr marL="514350" indent="-514350">
              <a:buFont typeface="+mj-lt"/>
              <a:buAutoNum type="arabicPeriod"/>
            </a:pPr>
            <a:r>
              <a:rPr lang="en-US" sz="2800" b="1" dirty="0"/>
              <a:t>Phishing Type Detection</a:t>
            </a:r>
            <a:br>
              <a:rPr lang="en-US" sz="2400" dirty="0"/>
            </a:br>
            <a:r>
              <a:rPr lang="en-US" sz="2400" dirty="0"/>
              <a:t>Automatically classifies attacks into categories such as credential phishing, financial scam, business email compromise (BEC), malware-based phishing, or social engineering.</a:t>
            </a:r>
          </a:p>
          <a:p>
            <a:pPr marL="514350" indent="-514350">
              <a:buFont typeface="+mj-lt"/>
              <a:buAutoNum type="arabicPeriod"/>
            </a:pPr>
            <a:r>
              <a:rPr lang="en-US" sz="2800" b="1" dirty="0"/>
              <a:t>Prevention &amp; Awareness Guidance</a:t>
            </a:r>
            <a:br>
              <a:rPr lang="en-US" sz="2400" dirty="0"/>
            </a:br>
            <a:r>
              <a:rPr lang="en-US" sz="2400" dirty="0"/>
              <a:t>Provides clear, actionable recommendations like “Do not click this link,” “Verify sender domain,” or “Report to admin,” helping users learn and avoid future attacks.</a:t>
            </a:r>
          </a:p>
          <a:p>
            <a:pPr marL="514350" indent="-514350">
              <a:buFont typeface="+mj-lt"/>
              <a:buAutoNum type="arabicPeriod"/>
            </a:pPr>
            <a:r>
              <a:rPr lang="en-US" sz="2800" b="1" dirty="0"/>
              <a:t>Multilingual Threat Detection</a:t>
            </a:r>
            <a:br>
              <a:rPr lang="en-US" sz="2400" dirty="0"/>
            </a:br>
            <a:r>
              <a:rPr lang="en-US" sz="2400" dirty="0"/>
              <a:t>Supports multiple languages and detects phishing attempts in regional or mixed-language messages, addressing the rise of multilingual AI-generated phishing.</a:t>
            </a:r>
          </a:p>
          <a:p>
            <a:pPr marL="514350" indent="-514350">
              <a:buFont typeface="+mj-lt"/>
              <a:buAutoNum type="arabicPeriod"/>
            </a:pPr>
            <a:r>
              <a:rPr lang="en-US" sz="2800" b="1" dirty="0"/>
              <a:t>Backend Intelligence Storage</a:t>
            </a:r>
            <a:br>
              <a:rPr lang="en-US" sz="2400" dirty="0"/>
            </a:br>
            <a:r>
              <a:rPr lang="en-US" sz="2400" dirty="0"/>
              <a:t>Maintains a centralized threat intelligence database to track phishing trends, store flagged domains, and continuously improve detection accuracy through data learning.</a:t>
            </a:r>
          </a:p>
        </p:txBody>
      </p:sp>
      <p:pic>
        <p:nvPicPr>
          <p:cNvPr id="7" name="Picture 2" descr="Symbiosis University of Applied Sciences Indore: Skill-Based UG and PG  Programs with Strong Placements – AUBSP">
            <a:extLst>
              <a:ext uri="{FF2B5EF4-FFF2-40B4-BE49-F238E27FC236}">
                <a16:creationId xmlns:a16="http://schemas.microsoft.com/office/drawing/2014/main" id="{0EE0C253-FBA9-9D13-668E-46AF745CC14D}"/>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182" r="22333"/>
          <a:stretch>
            <a:fillRect/>
          </a:stretch>
        </p:blipFill>
        <p:spPr bwMode="auto">
          <a:xfrm>
            <a:off x="0" y="-21040"/>
            <a:ext cx="1446158" cy="14307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48DDC9-24F9-0AC1-E8B4-DEA8D2C80226}"/>
              </a:ext>
            </a:extLst>
          </p:cNvPr>
          <p:cNvSpPr txBox="1"/>
          <p:nvPr/>
        </p:nvSpPr>
        <p:spPr>
          <a:xfrm>
            <a:off x="4572000" y="723900"/>
            <a:ext cx="9144000" cy="846386"/>
          </a:xfrm>
          <a:prstGeom prst="rect">
            <a:avLst/>
          </a:prstGeom>
          <a:noFill/>
        </p:spPr>
        <p:txBody>
          <a:bodyPr wrap="square">
            <a:spAutoFit/>
          </a:bodyPr>
          <a:lstStyle/>
          <a:p>
            <a:pPr algn="ctr"/>
            <a:r>
              <a:rPr lang="en-IN" sz="4900" b="1" dirty="0"/>
              <a:t>Key Features</a:t>
            </a:r>
          </a:p>
        </p:txBody>
      </p:sp>
      <p:pic>
        <p:nvPicPr>
          <p:cNvPr id="5" name="Picture 4">
            <a:extLst>
              <a:ext uri="{FF2B5EF4-FFF2-40B4-BE49-F238E27FC236}">
                <a16:creationId xmlns:a16="http://schemas.microsoft.com/office/drawing/2014/main" id="{A98D2079-8C36-2F30-4A7B-D916E67CEE67}"/>
              </a:ext>
            </a:extLst>
          </p:cNvPr>
          <p:cNvPicPr>
            <a:picLocks noChangeAspect="1"/>
          </p:cNvPicPr>
          <p:nvPr/>
        </p:nvPicPr>
        <p:blipFill>
          <a:blip r:embed="rId2">
            <a:extLst>
              <a:ext uri="{28A0092B-C50C-407E-A947-70E740481C1C}">
                <a14:useLocalDpi xmlns:a14="http://schemas.microsoft.com/office/drawing/2010/main" val="0"/>
              </a:ext>
            </a:extLst>
          </a:blip>
          <a:srcRect t="7662" b="3246"/>
          <a:stretch>
            <a:fillRect/>
          </a:stretch>
        </p:blipFill>
        <p:spPr>
          <a:xfrm>
            <a:off x="3314700" y="1866900"/>
            <a:ext cx="11658600" cy="8094178"/>
          </a:xfrm>
          <a:prstGeom prst="rect">
            <a:avLst/>
          </a:prstGeom>
        </p:spPr>
      </p:pic>
      <p:sp>
        <p:nvSpPr>
          <p:cNvPr id="6" name="AutoShape 2">
            <a:extLst>
              <a:ext uri="{FF2B5EF4-FFF2-40B4-BE49-F238E27FC236}">
                <a16:creationId xmlns:a16="http://schemas.microsoft.com/office/drawing/2014/main" id="{C22EFE05-C9EF-A3EF-6008-64E8D0DE69FC}"/>
              </a:ext>
            </a:extLst>
          </p:cNvPr>
          <p:cNvSpPr/>
          <p:nvPr/>
        </p:nvSpPr>
        <p:spPr>
          <a:xfrm>
            <a:off x="7620001" y="1570284"/>
            <a:ext cx="3124200" cy="1"/>
          </a:xfrm>
          <a:prstGeom prst="line">
            <a:avLst/>
          </a:prstGeom>
          <a:ln w="19050" cap="flat">
            <a:solidFill>
              <a:srgbClr val="000000"/>
            </a:solidFill>
            <a:prstDash val="solid"/>
            <a:headEnd type="none" w="sm" len="sm"/>
            <a:tailEnd type="none" w="sm" len="sm"/>
          </a:ln>
        </p:spPr>
      </p:sp>
      <p:pic>
        <p:nvPicPr>
          <p:cNvPr id="7" name="Picture 2" descr="Symbiosis University of Applied Sciences Indore: Skill-Based UG and PG  Programs with Strong Placements – AUBSP">
            <a:extLst>
              <a:ext uri="{FF2B5EF4-FFF2-40B4-BE49-F238E27FC236}">
                <a16:creationId xmlns:a16="http://schemas.microsoft.com/office/drawing/2014/main" id="{9AC217CC-6C16-6A87-A3CA-FF77B967A41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1182" r="22333"/>
          <a:stretch>
            <a:fillRect/>
          </a:stretch>
        </p:blipFill>
        <p:spPr bwMode="auto">
          <a:xfrm>
            <a:off x="0" y="-21040"/>
            <a:ext cx="1292115" cy="1278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05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110363" y="571817"/>
            <a:ext cx="8453237" cy="828042"/>
          </a:xfrm>
          <a:prstGeom prst="rect">
            <a:avLst/>
          </a:prstGeom>
        </p:spPr>
        <p:txBody>
          <a:bodyPr wrap="square" lIns="0" tIns="0" rIns="0" bIns="0" rtlCol="0" anchor="t">
            <a:spAutoFit/>
          </a:bodyPr>
          <a:lstStyle/>
          <a:p>
            <a:pPr algn="ctr">
              <a:lnSpc>
                <a:spcPts val="6859"/>
              </a:lnSpc>
              <a:spcBef>
                <a:spcPct val="0"/>
              </a:spcBef>
            </a:pPr>
            <a:r>
              <a:rPr lang="en-US" sz="4899" b="1" u="sng" dirty="0">
                <a:solidFill>
                  <a:srgbClr val="000000"/>
                </a:solidFill>
                <a:latin typeface="Montserrat Bold"/>
                <a:ea typeface="Montserrat Bold"/>
                <a:cs typeface="Montserrat Bold"/>
                <a:sym typeface="Montserrat Bold"/>
              </a:rPr>
              <a:t>SYSTEM ARCHITECTURE</a:t>
            </a:r>
          </a:p>
        </p:txBody>
      </p:sp>
      <p:pic>
        <p:nvPicPr>
          <p:cNvPr id="7" name="Picture 6">
            <a:extLst>
              <a:ext uri="{FF2B5EF4-FFF2-40B4-BE49-F238E27FC236}">
                <a16:creationId xmlns:a16="http://schemas.microsoft.com/office/drawing/2014/main" id="{EA2FD7E8-666B-5BA1-8A9D-EBDBBDF6774D}"/>
              </a:ext>
            </a:extLst>
          </p:cNvPr>
          <p:cNvPicPr>
            <a:picLocks noChangeAspect="1"/>
          </p:cNvPicPr>
          <p:nvPr/>
        </p:nvPicPr>
        <p:blipFill>
          <a:blip r:embed="rId2"/>
          <a:srcRect b="12748"/>
          <a:stretch>
            <a:fillRect/>
          </a:stretch>
        </p:blipFill>
        <p:spPr>
          <a:xfrm>
            <a:off x="1981200" y="1943100"/>
            <a:ext cx="14325599" cy="7994845"/>
          </a:xfrm>
          <a:prstGeom prst="rect">
            <a:avLst/>
          </a:prstGeom>
        </p:spPr>
      </p:pic>
      <p:pic>
        <p:nvPicPr>
          <p:cNvPr id="8" name="Picture 2" descr="Symbiosis University of Applied Sciences Indore: Skill-Based UG and PG  Programs with Strong Placements – AUBSP">
            <a:extLst>
              <a:ext uri="{FF2B5EF4-FFF2-40B4-BE49-F238E27FC236}">
                <a16:creationId xmlns:a16="http://schemas.microsoft.com/office/drawing/2014/main" id="{EB517F26-F9C2-9378-6BB0-8386452F42A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1182" r="22333"/>
          <a:stretch>
            <a:fillRect/>
          </a:stretch>
        </p:blipFill>
        <p:spPr bwMode="auto">
          <a:xfrm>
            <a:off x="0" y="-21040"/>
            <a:ext cx="1292115" cy="12783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5606280" y="571817"/>
            <a:ext cx="6280920" cy="828042"/>
          </a:xfrm>
          <a:prstGeom prst="rect">
            <a:avLst/>
          </a:prstGeom>
        </p:spPr>
        <p:txBody>
          <a:bodyPr wrap="square" lIns="0" tIns="0" rIns="0" bIns="0" rtlCol="0" anchor="t">
            <a:spAutoFit/>
          </a:bodyPr>
          <a:lstStyle/>
          <a:p>
            <a:pPr algn="ctr">
              <a:lnSpc>
                <a:spcPts val="6859"/>
              </a:lnSpc>
              <a:spcBef>
                <a:spcPct val="0"/>
              </a:spcBef>
            </a:pPr>
            <a:r>
              <a:rPr lang="en-US" sz="4899" b="1" u="sng" dirty="0">
                <a:solidFill>
                  <a:srgbClr val="000000"/>
                </a:solidFill>
                <a:latin typeface="Montserrat Bold"/>
                <a:ea typeface="Montserrat Bold"/>
                <a:cs typeface="Montserrat Bold"/>
                <a:sym typeface="Montserrat Bold"/>
              </a:rPr>
              <a:t>Technology Stack</a:t>
            </a:r>
          </a:p>
        </p:txBody>
      </p:sp>
      <p:graphicFrame>
        <p:nvGraphicFramePr>
          <p:cNvPr id="38" name="Table 37">
            <a:extLst>
              <a:ext uri="{FF2B5EF4-FFF2-40B4-BE49-F238E27FC236}">
                <a16:creationId xmlns:a16="http://schemas.microsoft.com/office/drawing/2014/main" id="{C66ECE71-B0B3-D1BE-7A96-01F72F1A9AD6}"/>
              </a:ext>
            </a:extLst>
          </p:cNvPr>
          <p:cNvGraphicFramePr>
            <a:graphicFrameLocks noGrp="1"/>
          </p:cNvGraphicFramePr>
          <p:nvPr>
            <p:extLst>
              <p:ext uri="{D42A27DB-BD31-4B8C-83A1-F6EECF244321}">
                <p14:modId xmlns:p14="http://schemas.microsoft.com/office/powerpoint/2010/main" val="998976399"/>
              </p:ext>
            </p:extLst>
          </p:nvPr>
        </p:nvGraphicFramePr>
        <p:xfrm>
          <a:off x="3352800" y="2171700"/>
          <a:ext cx="11582400" cy="6705601"/>
        </p:xfrm>
        <a:graphic>
          <a:graphicData uri="http://schemas.openxmlformats.org/drawingml/2006/table">
            <a:tbl>
              <a:tblPr/>
              <a:tblGrid>
                <a:gridCol w="5791200">
                  <a:extLst>
                    <a:ext uri="{9D8B030D-6E8A-4147-A177-3AD203B41FA5}">
                      <a16:colId xmlns:a16="http://schemas.microsoft.com/office/drawing/2014/main" val="3786054132"/>
                    </a:ext>
                  </a:extLst>
                </a:gridCol>
                <a:gridCol w="5791200">
                  <a:extLst>
                    <a:ext uri="{9D8B030D-6E8A-4147-A177-3AD203B41FA5}">
                      <a16:colId xmlns:a16="http://schemas.microsoft.com/office/drawing/2014/main" val="1033976083"/>
                    </a:ext>
                  </a:extLst>
                </a:gridCol>
              </a:tblGrid>
              <a:tr h="957943">
                <a:tc>
                  <a:txBody>
                    <a:bodyPr/>
                    <a:lstStyle/>
                    <a:p>
                      <a:pPr algn="ctr">
                        <a:buNone/>
                      </a:pPr>
                      <a:r>
                        <a:rPr lang="en-IN" sz="3600" b="1" dirty="0"/>
                        <a:t>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3600" b="1" dirty="0"/>
                        <a:t>Tech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650187"/>
                  </a:ext>
                </a:extLst>
              </a:tr>
              <a:tr h="957943">
                <a:tc>
                  <a:txBody>
                    <a:bodyPr/>
                    <a:lstStyle/>
                    <a:p>
                      <a:pPr>
                        <a:buNone/>
                      </a:pPr>
                      <a:r>
                        <a:rPr lang="en-IN" sz="3600" dirty="0"/>
                        <a:t>Frontend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3600"/>
                        <a:t>React / HTML CSS JS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6740376"/>
                  </a:ext>
                </a:extLst>
              </a:tr>
              <a:tr h="957943">
                <a:tc>
                  <a:txBody>
                    <a:bodyPr/>
                    <a:lstStyle/>
                    <a:p>
                      <a:pPr>
                        <a:buNone/>
                      </a:pPr>
                      <a:r>
                        <a:rPr lang="en-IN" sz="3600"/>
                        <a:t>Backend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3600"/>
                        <a:t>Flask / FastAPI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473998"/>
                  </a:ext>
                </a:extLst>
              </a:tr>
              <a:tr h="957943">
                <a:tc>
                  <a:txBody>
                    <a:bodyPr/>
                    <a:lstStyle/>
                    <a:p>
                      <a:pPr>
                        <a:buNone/>
                      </a:pPr>
                      <a:r>
                        <a:rPr lang="en-IN" sz="3600" dirty="0"/>
                        <a:t>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3600" dirty="0"/>
                        <a:t>Scikit-learn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2944683"/>
                  </a:ext>
                </a:extLst>
              </a:tr>
              <a:tr h="957943">
                <a:tc>
                  <a:txBody>
                    <a:bodyPr/>
                    <a:lstStyle/>
                    <a:p>
                      <a:pPr>
                        <a:buNone/>
                      </a:pPr>
                      <a:r>
                        <a:rPr lang="en-IN" sz="3600"/>
                        <a:t>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3600" dirty="0"/>
                        <a:t>MongoDB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8348130"/>
                  </a:ext>
                </a:extLst>
              </a:tr>
              <a:tr h="957943">
                <a:tc>
                  <a:txBody>
                    <a:bodyPr/>
                    <a:lstStyle/>
                    <a:p>
                      <a:pPr>
                        <a:buNone/>
                      </a:pPr>
                      <a:r>
                        <a:rPr lang="en-IN" sz="3600"/>
                        <a:t>Language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3600" dirty="0" err="1"/>
                        <a:t>Langdetect</a:t>
                      </a:r>
                      <a:endParaRPr lang="en-IN" sz="3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0010542"/>
                  </a:ext>
                </a:extLst>
              </a:tr>
              <a:tr h="957943">
                <a:tc>
                  <a:txBody>
                    <a:bodyPr/>
                    <a:lstStyle/>
                    <a:p>
                      <a:pPr>
                        <a:buNone/>
                      </a:pPr>
                      <a:r>
                        <a:rPr lang="en-IN" sz="3600"/>
                        <a:t>Translation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3600" dirty="0"/>
                        <a:t>Google Translate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0597138"/>
                  </a:ext>
                </a:extLst>
              </a:tr>
            </a:tbl>
          </a:graphicData>
        </a:graphic>
      </p:graphicFrame>
      <p:sp>
        <p:nvSpPr>
          <p:cNvPr id="41" name="AutoShape 6" descr="React (software) - Wikipedia">
            <a:extLst>
              <a:ext uri="{FF2B5EF4-FFF2-40B4-BE49-F238E27FC236}">
                <a16:creationId xmlns:a16="http://schemas.microsoft.com/office/drawing/2014/main" id="{086F46FE-ABBC-F406-A376-FC545FDFE781}"/>
              </a:ext>
            </a:extLst>
          </p:cNvPr>
          <p:cNvSpPr>
            <a:spLocks noChangeAspect="1" noChangeArrowheads="1"/>
          </p:cNvSpPr>
          <p:nvPr/>
        </p:nvSpPr>
        <p:spPr bwMode="auto">
          <a:xfrm>
            <a:off x="8991600" y="4991100"/>
            <a:ext cx="1905000" cy="1905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2" name="AutoShape 8" descr="Flask Logo PNG Transparent &amp; SVG Vector - Freebie Supply">
            <a:extLst>
              <a:ext uri="{FF2B5EF4-FFF2-40B4-BE49-F238E27FC236}">
                <a16:creationId xmlns:a16="http://schemas.microsoft.com/office/drawing/2014/main" id="{1D25B898-7922-69BA-A0C4-31F38CCE2CB4}"/>
              </a:ext>
            </a:extLst>
          </p:cNvPr>
          <p:cNvSpPr>
            <a:spLocks noChangeAspect="1" noChangeArrowheads="1"/>
          </p:cNvSpPr>
          <p:nvPr/>
        </p:nvSpPr>
        <p:spPr bwMode="auto">
          <a:xfrm>
            <a:off x="533400" y="5372100"/>
            <a:ext cx="1752600" cy="1752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3" name="Picture 2" descr="Symbiosis University of Applied Sciences Indore: Skill-Based UG and PG  Programs with Strong Placements – AUBSP">
            <a:extLst>
              <a:ext uri="{FF2B5EF4-FFF2-40B4-BE49-F238E27FC236}">
                <a16:creationId xmlns:a16="http://schemas.microsoft.com/office/drawing/2014/main" id="{81583972-CD79-9BD5-766B-9F31E0ACC4A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182" r="22333"/>
          <a:stretch>
            <a:fillRect/>
          </a:stretch>
        </p:blipFill>
        <p:spPr bwMode="auto">
          <a:xfrm>
            <a:off x="0" y="0"/>
            <a:ext cx="1292115" cy="1257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DC9E2098-18A0-4872-72E3-EF70FFF20BAC}"/>
              </a:ext>
            </a:extLst>
          </p:cNvPr>
          <p:cNvSpPr txBox="1"/>
          <p:nvPr/>
        </p:nvSpPr>
        <p:spPr>
          <a:xfrm>
            <a:off x="5110363" y="571817"/>
            <a:ext cx="8453237" cy="828042"/>
          </a:xfrm>
          <a:prstGeom prst="rect">
            <a:avLst/>
          </a:prstGeom>
        </p:spPr>
        <p:txBody>
          <a:bodyPr wrap="square" lIns="0" tIns="0" rIns="0" bIns="0" rtlCol="0" anchor="t">
            <a:spAutoFit/>
          </a:bodyPr>
          <a:lstStyle/>
          <a:p>
            <a:pPr algn="ctr">
              <a:lnSpc>
                <a:spcPts val="6859"/>
              </a:lnSpc>
              <a:spcBef>
                <a:spcPct val="0"/>
              </a:spcBef>
            </a:pPr>
            <a:r>
              <a:rPr lang="en-US" sz="4899" b="1" u="sng" dirty="0">
                <a:solidFill>
                  <a:srgbClr val="000000"/>
                </a:solidFill>
                <a:latin typeface="Montserrat Bold"/>
                <a:ea typeface="Montserrat Bold"/>
                <a:cs typeface="Montserrat Bold"/>
                <a:sym typeface="Montserrat Bold"/>
              </a:rPr>
              <a:t>SYSTEM ARCHITECTURE</a:t>
            </a:r>
          </a:p>
        </p:txBody>
      </p:sp>
      <p:sp>
        <p:nvSpPr>
          <p:cNvPr id="4" name="TextBox 3">
            <a:extLst>
              <a:ext uri="{FF2B5EF4-FFF2-40B4-BE49-F238E27FC236}">
                <a16:creationId xmlns:a16="http://schemas.microsoft.com/office/drawing/2014/main" id="{344CB3F2-FDA3-F73D-4A0C-20C7211CAA4D}"/>
              </a:ext>
            </a:extLst>
          </p:cNvPr>
          <p:cNvSpPr txBox="1"/>
          <p:nvPr/>
        </p:nvSpPr>
        <p:spPr>
          <a:xfrm>
            <a:off x="1066800" y="2007810"/>
            <a:ext cx="16459200" cy="7848302"/>
          </a:xfrm>
          <a:prstGeom prst="rect">
            <a:avLst/>
          </a:prstGeom>
          <a:noFill/>
        </p:spPr>
        <p:txBody>
          <a:bodyPr wrap="square">
            <a:spAutoFit/>
          </a:bodyPr>
          <a:lstStyle/>
          <a:p>
            <a:pPr>
              <a:buNone/>
            </a:pPr>
            <a:r>
              <a:rPr lang="en-US" sz="2800" b="1" dirty="0"/>
              <a:t>Step 1: Feature Engineering</a:t>
            </a:r>
          </a:p>
          <a:p>
            <a:pPr>
              <a:buNone/>
            </a:pPr>
            <a:r>
              <a:rPr lang="en-US" sz="2800" dirty="0"/>
              <a:t>In the first step, the system extracts important features from URLs and emails to detect phishing patterns. For URLs, it analyzes length, presence of suspicious keywords (like </a:t>
            </a:r>
            <a:r>
              <a:rPr lang="en-US" sz="2800" i="1" dirty="0"/>
              <a:t>login</a:t>
            </a:r>
            <a:r>
              <a:rPr lang="en-US" sz="2800" dirty="0"/>
              <a:t>, </a:t>
            </a:r>
            <a:r>
              <a:rPr lang="en-US" sz="2800" i="1" dirty="0"/>
              <a:t>verify</a:t>
            </a:r>
            <a:r>
              <a:rPr lang="en-US" sz="2800" dirty="0"/>
              <a:t>, </a:t>
            </a:r>
            <a:r>
              <a:rPr lang="en-US" sz="2800" i="1" dirty="0"/>
              <a:t>secure</a:t>
            </a:r>
            <a:r>
              <a:rPr lang="en-US" sz="2800" dirty="0"/>
              <a:t>), usage of IP addresses instead of domain names, and excessive special characters such as “@”, “-”, or “//”. For emails, it detects urgency or threat words (like “Act Now” or “Account Suspended”), counts the number of links, checks sender domain mismatches, and verifies differences in reply-to addresses. These features convert raw data into structured inputs for machine learning.</a:t>
            </a:r>
          </a:p>
          <a:p>
            <a:pPr>
              <a:buNone/>
            </a:pPr>
            <a:r>
              <a:rPr lang="en-US" sz="2800" b="1" dirty="0"/>
              <a:t>Step 2: AI Model</a:t>
            </a:r>
          </a:p>
          <a:p>
            <a:pPr>
              <a:buNone/>
            </a:pPr>
            <a:r>
              <a:rPr lang="en-US" sz="2800" dirty="0"/>
              <a:t>The extracted features are then fed into machine learning models such as Random Forest or Logistic Regression, trained on real phishing datasets. The system performs multi-class classification to identify whether the content is safe or malicious and categorize the type of phishing attack. The output includes a risk probability score (0–100%) and the predicted phishing category, demonstrating a strong ML-based threat detection framework.</a:t>
            </a:r>
          </a:p>
          <a:p>
            <a:r>
              <a:rPr lang="en-US" sz="2800" b="1" dirty="0"/>
              <a:t>Step 3  – Explainable AI (Visual Threat Heatmap)</a:t>
            </a:r>
          </a:p>
          <a:p>
            <a:r>
              <a:rPr lang="en-US" sz="2800" dirty="0"/>
              <a:t>This system does not just detect phishing but also explains why the content is flagged. Suspicious words in emails are highlighted, risky URL segments are color-coded, and high-risk zones are visually marked using a heatmap. This transparency builds user trust and helps security teams quickly understand the threat. Unlike traditional black-box models, our system provides clear, visual justification for every risk score, making it highly interpretable and user-friendly.</a:t>
            </a:r>
          </a:p>
        </p:txBody>
      </p:sp>
      <p:pic>
        <p:nvPicPr>
          <p:cNvPr id="5" name="Picture 2" descr="Symbiosis University of Applied Sciences Indore: Skill-Based UG and PG  Programs with Strong Placements – AUBSP">
            <a:extLst>
              <a:ext uri="{FF2B5EF4-FFF2-40B4-BE49-F238E27FC236}">
                <a16:creationId xmlns:a16="http://schemas.microsoft.com/office/drawing/2014/main" id="{9FC33CDC-8A7D-3ECF-BD4E-7FA7AB06194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182" r="22333"/>
          <a:stretch>
            <a:fillRect/>
          </a:stretch>
        </p:blipFill>
        <p:spPr bwMode="auto">
          <a:xfrm>
            <a:off x="0" y="-21040"/>
            <a:ext cx="1292115" cy="1278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5764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F84EF0-9B6B-DB6B-6D89-643BF093A149}"/>
              </a:ext>
            </a:extLst>
          </p:cNvPr>
          <p:cNvSpPr txBox="1"/>
          <p:nvPr/>
        </p:nvSpPr>
        <p:spPr>
          <a:xfrm>
            <a:off x="1409700" y="2476500"/>
            <a:ext cx="15468600" cy="5693866"/>
          </a:xfrm>
          <a:prstGeom prst="rect">
            <a:avLst/>
          </a:prstGeom>
          <a:noFill/>
        </p:spPr>
        <p:txBody>
          <a:bodyPr wrap="square">
            <a:spAutoFit/>
          </a:bodyPr>
          <a:lstStyle/>
          <a:p>
            <a:r>
              <a:rPr lang="en-US" sz="2800" b="1" dirty="0"/>
              <a:t>Step 4 – Phishing Type Classification</a:t>
            </a:r>
          </a:p>
          <a:p>
            <a:r>
              <a:rPr lang="en-US" sz="2800" dirty="0"/>
              <a:t>The system detects and classifies phishing into categories such as Credential Harvesting, Spear Phishing, Clone Phishing, Business Email Compromise, and Malware Delivery. Classification matters because each attack type requires a different response strategy, enabling faster and more targeted action instead of generic warnings.</a:t>
            </a:r>
          </a:p>
          <a:p>
            <a:r>
              <a:rPr lang="en-US" sz="2800" b="1" dirty="0"/>
              <a:t>Step 5 – Prevention Recommendation Engine</a:t>
            </a:r>
          </a:p>
          <a:p>
            <a:r>
              <a:rPr lang="en-US" sz="2800" dirty="0"/>
              <a:t>Based on the detected phishing type, the system provides actionable security recommendations. For example, in Credential Harvesting cases, it suggests not clicking the link, enabling 2FA, verifying the domain, and reporting the sender. This ensures practical real-world impact beyond just detection.</a:t>
            </a:r>
          </a:p>
          <a:p>
            <a:r>
              <a:rPr lang="en-US" sz="2800" b="1" dirty="0"/>
              <a:t>Step 6 – Threat Intelligence Dashboard</a:t>
            </a:r>
          </a:p>
          <a:p>
            <a:r>
              <a:rPr lang="en-US" sz="2800" dirty="0"/>
              <a:t>The dashboard visualizes phishing insights using a pie chart for attack types, a bar graph for language distribution, and a timeline graph for trend analysis. Detection data is securely stored in the backend for continuous monitoring and future model improvement.</a:t>
            </a:r>
          </a:p>
        </p:txBody>
      </p:sp>
      <p:sp>
        <p:nvSpPr>
          <p:cNvPr id="4" name="TextBox 3">
            <a:extLst>
              <a:ext uri="{FF2B5EF4-FFF2-40B4-BE49-F238E27FC236}">
                <a16:creationId xmlns:a16="http://schemas.microsoft.com/office/drawing/2014/main" id="{7E686250-273A-3E91-AB85-8696063C3FEC}"/>
              </a:ext>
            </a:extLst>
          </p:cNvPr>
          <p:cNvSpPr txBox="1"/>
          <p:nvPr/>
        </p:nvSpPr>
        <p:spPr>
          <a:xfrm>
            <a:off x="5110363" y="571817"/>
            <a:ext cx="8453237" cy="828042"/>
          </a:xfrm>
          <a:prstGeom prst="rect">
            <a:avLst/>
          </a:prstGeom>
        </p:spPr>
        <p:txBody>
          <a:bodyPr wrap="square" lIns="0" tIns="0" rIns="0" bIns="0" rtlCol="0" anchor="t">
            <a:spAutoFit/>
          </a:bodyPr>
          <a:lstStyle/>
          <a:p>
            <a:pPr algn="ctr">
              <a:lnSpc>
                <a:spcPts val="6859"/>
              </a:lnSpc>
              <a:spcBef>
                <a:spcPct val="0"/>
              </a:spcBef>
            </a:pPr>
            <a:r>
              <a:rPr lang="en-US" sz="4899" b="1" u="sng" dirty="0">
                <a:solidFill>
                  <a:srgbClr val="000000"/>
                </a:solidFill>
                <a:latin typeface="Montserrat Bold"/>
                <a:ea typeface="Montserrat Bold"/>
                <a:cs typeface="Montserrat Bold"/>
                <a:sym typeface="Montserrat Bold"/>
              </a:rPr>
              <a:t>SYSTEM ARCHITECTURE</a:t>
            </a:r>
          </a:p>
        </p:txBody>
      </p:sp>
      <p:pic>
        <p:nvPicPr>
          <p:cNvPr id="5" name="Picture 2" descr="Symbiosis University of Applied Sciences Indore: Skill-Based UG and PG  Programs with Strong Placements – AUBSP">
            <a:extLst>
              <a:ext uri="{FF2B5EF4-FFF2-40B4-BE49-F238E27FC236}">
                <a16:creationId xmlns:a16="http://schemas.microsoft.com/office/drawing/2014/main" id="{409CBF67-6FD2-B5CB-884A-9F6FD9D08A0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182" r="22333"/>
          <a:stretch>
            <a:fillRect/>
          </a:stretch>
        </p:blipFill>
        <p:spPr bwMode="auto">
          <a:xfrm>
            <a:off x="0" y="-21040"/>
            <a:ext cx="1292115" cy="1278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226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5659844" y="571817"/>
            <a:ext cx="6913155" cy="828042"/>
          </a:xfrm>
          <a:prstGeom prst="rect">
            <a:avLst/>
          </a:prstGeom>
        </p:spPr>
        <p:txBody>
          <a:bodyPr wrap="square" lIns="0" tIns="0" rIns="0" bIns="0" rtlCol="0" anchor="t">
            <a:spAutoFit/>
          </a:bodyPr>
          <a:lstStyle/>
          <a:p>
            <a:pPr algn="ctr">
              <a:lnSpc>
                <a:spcPts val="6859"/>
              </a:lnSpc>
              <a:spcBef>
                <a:spcPct val="0"/>
              </a:spcBef>
            </a:pPr>
            <a:r>
              <a:rPr lang="en-US" sz="4899" b="1" u="sng" dirty="0">
                <a:solidFill>
                  <a:srgbClr val="000000"/>
                </a:solidFill>
                <a:latin typeface="Montserrat Bold"/>
                <a:ea typeface="Montserrat Bold"/>
                <a:cs typeface="Montserrat Bold"/>
                <a:sym typeface="Montserrat Bold"/>
              </a:rPr>
              <a:t>Demo Flow</a:t>
            </a:r>
          </a:p>
        </p:txBody>
      </p:sp>
      <p:pic>
        <p:nvPicPr>
          <p:cNvPr id="10" name="Picture 9">
            <a:extLst>
              <a:ext uri="{FF2B5EF4-FFF2-40B4-BE49-F238E27FC236}">
                <a16:creationId xmlns:a16="http://schemas.microsoft.com/office/drawing/2014/main" id="{B829164E-36F9-4358-0E35-711845FE0F63}"/>
              </a:ext>
            </a:extLst>
          </p:cNvPr>
          <p:cNvPicPr>
            <a:picLocks noChangeAspect="1"/>
          </p:cNvPicPr>
          <p:nvPr/>
        </p:nvPicPr>
        <p:blipFill>
          <a:blip r:embed="rId2"/>
          <a:stretch>
            <a:fillRect/>
          </a:stretch>
        </p:blipFill>
        <p:spPr>
          <a:xfrm>
            <a:off x="7315200" y="1943100"/>
            <a:ext cx="3200400" cy="7095124"/>
          </a:xfrm>
          <a:prstGeom prst="rect">
            <a:avLst/>
          </a:prstGeom>
        </p:spPr>
      </p:pic>
      <p:pic>
        <p:nvPicPr>
          <p:cNvPr id="11" name="Picture 2" descr="Symbiosis University of Applied Sciences Indore: Skill-Based UG and PG  Programs with Strong Placements – AUBSP">
            <a:extLst>
              <a:ext uri="{FF2B5EF4-FFF2-40B4-BE49-F238E27FC236}">
                <a16:creationId xmlns:a16="http://schemas.microsoft.com/office/drawing/2014/main" id="{A08FA063-5DE7-8327-4015-8D80E0B29EF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1182" r="22333"/>
          <a:stretch>
            <a:fillRect/>
          </a:stretch>
        </p:blipFill>
        <p:spPr bwMode="auto">
          <a:xfrm>
            <a:off x="0" y="-21040"/>
            <a:ext cx="1292115" cy="12783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3991738" y="571817"/>
            <a:ext cx="9766250" cy="828042"/>
          </a:xfrm>
          <a:prstGeom prst="rect">
            <a:avLst/>
          </a:prstGeom>
        </p:spPr>
        <p:txBody>
          <a:bodyPr lIns="0" tIns="0" rIns="0" bIns="0" rtlCol="0" anchor="t">
            <a:spAutoFit/>
          </a:bodyPr>
          <a:lstStyle/>
          <a:p>
            <a:pPr algn="ctr">
              <a:lnSpc>
                <a:spcPts val="6859"/>
              </a:lnSpc>
              <a:spcBef>
                <a:spcPct val="0"/>
              </a:spcBef>
            </a:pPr>
            <a:r>
              <a:rPr lang="en-US" sz="4899" b="1" u="sng">
                <a:solidFill>
                  <a:srgbClr val="000000"/>
                </a:solidFill>
                <a:latin typeface="Montserrat Bold"/>
                <a:ea typeface="Montserrat Bold"/>
                <a:cs typeface="Montserrat Bold"/>
                <a:sym typeface="Montserrat Bold"/>
              </a:rPr>
              <a:t>RESEARCH AND REFERENCES</a:t>
            </a:r>
          </a:p>
        </p:txBody>
      </p:sp>
      <p:graphicFrame>
        <p:nvGraphicFramePr>
          <p:cNvPr id="9" name="Table 8">
            <a:extLst>
              <a:ext uri="{FF2B5EF4-FFF2-40B4-BE49-F238E27FC236}">
                <a16:creationId xmlns:a16="http://schemas.microsoft.com/office/drawing/2014/main" id="{180AF8D7-925D-4547-1980-BE45C29EA9BC}"/>
              </a:ext>
            </a:extLst>
          </p:cNvPr>
          <p:cNvGraphicFramePr>
            <a:graphicFrameLocks noGrp="1"/>
          </p:cNvGraphicFramePr>
          <p:nvPr>
            <p:extLst>
              <p:ext uri="{D42A27DB-BD31-4B8C-83A1-F6EECF244321}">
                <p14:modId xmlns:p14="http://schemas.microsoft.com/office/powerpoint/2010/main" val="728357965"/>
              </p:ext>
            </p:extLst>
          </p:nvPr>
        </p:nvGraphicFramePr>
        <p:xfrm>
          <a:off x="2203764" y="1600200"/>
          <a:ext cx="14255436" cy="7708156"/>
        </p:xfrm>
        <a:graphic>
          <a:graphicData uri="http://schemas.openxmlformats.org/drawingml/2006/table">
            <a:tbl>
              <a:tblPr/>
              <a:tblGrid>
                <a:gridCol w="2729167">
                  <a:extLst>
                    <a:ext uri="{9D8B030D-6E8A-4147-A177-3AD203B41FA5}">
                      <a16:colId xmlns:a16="http://schemas.microsoft.com/office/drawing/2014/main" val="386408212"/>
                    </a:ext>
                  </a:extLst>
                </a:gridCol>
                <a:gridCol w="2729167">
                  <a:extLst>
                    <a:ext uri="{9D8B030D-6E8A-4147-A177-3AD203B41FA5}">
                      <a16:colId xmlns:a16="http://schemas.microsoft.com/office/drawing/2014/main" val="164305720"/>
                    </a:ext>
                  </a:extLst>
                </a:gridCol>
                <a:gridCol w="2729167">
                  <a:extLst>
                    <a:ext uri="{9D8B030D-6E8A-4147-A177-3AD203B41FA5}">
                      <a16:colId xmlns:a16="http://schemas.microsoft.com/office/drawing/2014/main" val="2087409075"/>
                    </a:ext>
                  </a:extLst>
                </a:gridCol>
                <a:gridCol w="2729167">
                  <a:extLst>
                    <a:ext uri="{9D8B030D-6E8A-4147-A177-3AD203B41FA5}">
                      <a16:colId xmlns:a16="http://schemas.microsoft.com/office/drawing/2014/main" val="124342772"/>
                    </a:ext>
                  </a:extLst>
                </a:gridCol>
                <a:gridCol w="3338768">
                  <a:extLst>
                    <a:ext uri="{9D8B030D-6E8A-4147-A177-3AD203B41FA5}">
                      <a16:colId xmlns:a16="http://schemas.microsoft.com/office/drawing/2014/main" val="2974764106"/>
                    </a:ext>
                  </a:extLst>
                </a:gridCol>
              </a:tblGrid>
              <a:tr h="385873">
                <a:tc>
                  <a:txBody>
                    <a:bodyPr/>
                    <a:lstStyle/>
                    <a:p>
                      <a:pPr algn="l">
                        <a:buNone/>
                      </a:pPr>
                      <a:r>
                        <a:rPr lang="en-IN" sz="2400" b="1" dirty="0">
                          <a:effectLst/>
                        </a:rPr>
                        <a:t>Title/Reference</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buNone/>
                      </a:pPr>
                      <a:r>
                        <a:rPr lang="en-IN" sz="2400" b="1" dirty="0">
                          <a:effectLst/>
                        </a:rPr>
                        <a:t>Key Findings</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buNone/>
                      </a:pPr>
                      <a:r>
                        <a:rPr lang="en-IN" sz="2400" b="1" dirty="0">
                          <a:effectLst/>
                        </a:rPr>
                        <a:t>Models/Acc.</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buNone/>
                      </a:pPr>
                      <a:r>
                        <a:rPr lang="en-IN" sz="2400" b="1">
                          <a:effectLst/>
                        </a:rPr>
                        <a:t>Year</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buNone/>
                      </a:pPr>
                      <a:r>
                        <a:rPr lang="en-IN" sz="2400" b="1" dirty="0">
                          <a:effectLst/>
                        </a:rPr>
                        <a:t>Link/ID</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34065935"/>
                  </a:ext>
                </a:extLst>
              </a:tr>
              <a:tr h="1721588">
                <a:tc>
                  <a:txBody>
                    <a:bodyPr/>
                    <a:lstStyle/>
                    <a:p>
                      <a:pPr algn="l">
                        <a:buNone/>
                      </a:pPr>
                      <a:r>
                        <a:rPr lang="en-US" sz="1800" dirty="0">
                          <a:effectLst/>
                        </a:rPr>
                        <a:t>Phishing Detection using ML-based URL Analysis: Survey</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RF best (97.14% acc.); more training data boosts perf.; compares DT/SVM/NB.</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RF, DT, SVM, ANN</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2021</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dirty="0" err="1">
                          <a:effectLst/>
                          <a:hlinkClick r:id="rId2"/>
                        </a:rPr>
                        <a:t>ijert</a:t>
                      </a:r>
                      <a:r>
                        <a:rPr lang="en-IN" sz="1800" dirty="0">
                          <a:effectLst/>
                        </a:rPr>
                        <a:t>​</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1057881"/>
                  </a:ext>
                </a:extLst>
              </a:tr>
              <a:tr h="1454445">
                <a:tc>
                  <a:txBody>
                    <a:bodyPr/>
                    <a:lstStyle/>
                    <a:p>
                      <a:pPr algn="l">
                        <a:buNone/>
                      </a:pPr>
                      <a:r>
                        <a:rPr lang="en-US" sz="1800">
                          <a:effectLst/>
                        </a:rPr>
                        <a:t>Integrated Approach for AI-Generated Phishing URLs ijettjournal+1</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RL + ML for AI-phishing; dynamic features.</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Q-Learning + classifiers</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2025</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99.25% </a:t>
                      </a:r>
                      <a:r>
                        <a:rPr lang="en-IN" sz="1800">
                          <a:effectLst/>
                          <a:hlinkClick r:id="rId3"/>
                        </a:rPr>
                        <a:t>ijettjournal</a:t>
                      </a:r>
                      <a:r>
                        <a:rPr lang="en-IN" sz="1800">
                          <a:effectLst/>
                        </a:rPr>
                        <a:t>​</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5374244"/>
                  </a:ext>
                </a:extLst>
              </a:tr>
              <a:tr h="1454445">
                <a:tc>
                  <a:txBody>
                    <a:bodyPr/>
                    <a:lstStyle/>
                    <a:p>
                      <a:pPr algn="l">
                        <a:buNone/>
                      </a:pPr>
                      <a:r>
                        <a:rPr lang="en-US" sz="1800" dirty="0">
                          <a:effectLst/>
                        </a:rPr>
                        <a:t>AI-Based Phishing Detection for Emails/URLs ​</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Features: keywords, URL length/IP; labeled data.</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dirty="0">
                          <a:effectLst/>
                        </a:rPr>
                        <a:t>ML classifiers</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2025</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SSRN </a:t>
                      </a:r>
                      <a:r>
                        <a:rPr lang="en-IN" sz="1800">
                          <a:effectLst/>
                          <a:hlinkClick r:id="rId4"/>
                        </a:rPr>
                        <a:t>papers.ssrn</a:t>
                      </a:r>
                      <a:r>
                        <a:rPr lang="en-IN" sz="1800">
                          <a:effectLst/>
                        </a:rPr>
                        <a:t>​</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3934015"/>
                  </a:ext>
                </a:extLst>
              </a:tr>
              <a:tr h="1454445">
                <a:tc>
                  <a:txBody>
                    <a:bodyPr/>
                    <a:lstStyle/>
                    <a:p>
                      <a:pPr algn="l">
                        <a:buNone/>
                      </a:pPr>
                      <a:r>
                        <a:rPr lang="en-US" sz="1800" dirty="0">
                          <a:effectLst/>
                        </a:rPr>
                        <a:t>Review of ML Techniques for Phishing ​</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Hybrid DL &gt; traditional (98-99%); UCI/PhishTank common.</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RF/SVM/CNN/LSTM</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2025</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Trends </a:t>
                      </a:r>
                      <a:r>
                        <a:rPr lang="en-IN" sz="1800">
                          <a:effectLst/>
                          <a:hlinkClick r:id="rId5"/>
                        </a:rPr>
                        <a:t>ijsrtjournal</a:t>
                      </a:r>
                      <a:r>
                        <a:rPr lang="en-IN" sz="1800">
                          <a:effectLst/>
                        </a:rPr>
                        <a:t>​</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4522198"/>
                  </a:ext>
                </a:extLst>
              </a:tr>
              <a:tr h="1187303">
                <a:tc>
                  <a:txBody>
                    <a:bodyPr/>
                    <a:lstStyle/>
                    <a:p>
                      <a:pPr algn="l">
                        <a:buNone/>
                      </a:pPr>
                      <a:r>
                        <a:rPr lang="en-US" sz="1800" dirty="0">
                          <a:effectLst/>
                        </a:rPr>
                        <a:t>Phishing URL Detection using ML (IEEE)</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Conference paper on URL ML detection.</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Various</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a:effectLst/>
                        </a:rPr>
                        <a:t>2025</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800" dirty="0">
                          <a:effectLst/>
                        </a:rPr>
                        <a:t>IEEE </a:t>
                      </a:r>
                      <a:r>
                        <a:rPr lang="en-IN" sz="1800" dirty="0" err="1">
                          <a:effectLst/>
                          <a:hlinkClick r:id="rId6"/>
                        </a:rPr>
                        <a:t>ieeexplore.ieee</a:t>
                      </a:r>
                      <a:r>
                        <a:rPr lang="en-IN" sz="1800" dirty="0">
                          <a:effectLst/>
                        </a:rPr>
                        <a:t>​</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3167416"/>
                  </a:ext>
                </a:extLst>
              </a:tr>
            </a:tbl>
          </a:graphicData>
        </a:graphic>
      </p:graphicFrame>
      <p:pic>
        <p:nvPicPr>
          <p:cNvPr id="10" name="Picture 2" descr="Symbiosis University of Applied Sciences Indore: Skill-Based UG and PG  Programs with Strong Placements – AUBSP">
            <a:extLst>
              <a:ext uri="{FF2B5EF4-FFF2-40B4-BE49-F238E27FC236}">
                <a16:creationId xmlns:a16="http://schemas.microsoft.com/office/drawing/2014/main" id="{6E58EE01-13CF-5449-5560-E384F87848F9}"/>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182" r="22333"/>
          <a:stretch>
            <a:fillRect/>
          </a:stretch>
        </p:blipFill>
        <p:spPr bwMode="auto">
          <a:xfrm>
            <a:off x="0" y="-21040"/>
            <a:ext cx="1292115" cy="12783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385542" y="510650"/>
            <a:ext cx="13616457" cy="828040"/>
          </a:xfrm>
          <a:prstGeom prst="rect">
            <a:avLst/>
          </a:prstGeom>
        </p:spPr>
        <p:txBody>
          <a:bodyPr wrap="square" lIns="0" tIns="0" rIns="0" bIns="0" rtlCol="0" anchor="t">
            <a:spAutoFit/>
          </a:bodyPr>
          <a:lstStyle/>
          <a:p>
            <a:pPr algn="ctr">
              <a:lnSpc>
                <a:spcPts val="6859"/>
              </a:lnSpc>
              <a:spcBef>
                <a:spcPct val="0"/>
              </a:spcBef>
            </a:pPr>
            <a:r>
              <a:rPr lang="en-US" sz="4899" b="1" dirty="0">
                <a:solidFill>
                  <a:srgbClr val="000000"/>
                </a:solidFill>
                <a:latin typeface="Montserrat Bold"/>
                <a:ea typeface="Montserrat Bold"/>
                <a:cs typeface="Montserrat Bold"/>
                <a:sym typeface="Montserrat Bold"/>
              </a:rPr>
              <a:t>FEASIBILITY &amp; VIABILITY</a:t>
            </a:r>
          </a:p>
        </p:txBody>
      </p:sp>
      <p:sp>
        <p:nvSpPr>
          <p:cNvPr id="4" name="AutoShape 4"/>
          <p:cNvSpPr/>
          <p:nvPr/>
        </p:nvSpPr>
        <p:spPr>
          <a:xfrm>
            <a:off x="5181599" y="1338690"/>
            <a:ext cx="8001001" cy="0"/>
          </a:xfrm>
          <a:prstGeom prst="line">
            <a:avLst/>
          </a:prstGeom>
          <a:ln w="38100" cap="flat">
            <a:solidFill>
              <a:srgbClr val="000000"/>
            </a:solidFill>
            <a:prstDash val="solid"/>
            <a:headEnd type="none" w="sm" len="sm"/>
            <a:tailEnd type="none" w="sm" len="sm"/>
          </a:ln>
        </p:spPr>
      </p:sp>
      <p:graphicFrame>
        <p:nvGraphicFramePr>
          <p:cNvPr id="5" name="Table 4">
            <a:extLst>
              <a:ext uri="{FF2B5EF4-FFF2-40B4-BE49-F238E27FC236}">
                <a16:creationId xmlns:a16="http://schemas.microsoft.com/office/drawing/2014/main" id="{A95344B3-C3A9-C13E-7DD9-98AF2074F89B}"/>
              </a:ext>
            </a:extLst>
          </p:cNvPr>
          <p:cNvGraphicFramePr>
            <a:graphicFrameLocks noGrp="1"/>
          </p:cNvGraphicFramePr>
          <p:nvPr>
            <p:extLst>
              <p:ext uri="{D42A27DB-BD31-4B8C-83A1-F6EECF244321}">
                <p14:modId xmlns:p14="http://schemas.microsoft.com/office/powerpoint/2010/main" val="2185127317"/>
              </p:ext>
            </p:extLst>
          </p:nvPr>
        </p:nvGraphicFramePr>
        <p:xfrm>
          <a:off x="2385541" y="1600200"/>
          <a:ext cx="13616457" cy="8232591"/>
        </p:xfrm>
        <a:graphic>
          <a:graphicData uri="http://schemas.openxmlformats.org/drawingml/2006/table">
            <a:tbl>
              <a:tblPr/>
              <a:tblGrid>
                <a:gridCol w="4538819">
                  <a:extLst>
                    <a:ext uri="{9D8B030D-6E8A-4147-A177-3AD203B41FA5}">
                      <a16:colId xmlns:a16="http://schemas.microsoft.com/office/drawing/2014/main" val="2846259133"/>
                    </a:ext>
                  </a:extLst>
                </a:gridCol>
                <a:gridCol w="4538819">
                  <a:extLst>
                    <a:ext uri="{9D8B030D-6E8A-4147-A177-3AD203B41FA5}">
                      <a16:colId xmlns:a16="http://schemas.microsoft.com/office/drawing/2014/main" val="3902044462"/>
                    </a:ext>
                  </a:extLst>
                </a:gridCol>
                <a:gridCol w="4538819">
                  <a:extLst>
                    <a:ext uri="{9D8B030D-6E8A-4147-A177-3AD203B41FA5}">
                      <a16:colId xmlns:a16="http://schemas.microsoft.com/office/drawing/2014/main" val="3217215422"/>
                    </a:ext>
                  </a:extLst>
                </a:gridCol>
              </a:tblGrid>
              <a:tr h="359184">
                <a:tc>
                  <a:txBody>
                    <a:bodyPr/>
                    <a:lstStyle/>
                    <a:p>
                      <a:pPr>
                        <a:buNone/>
                      </a:pPr>
                      <a:r>
                        <a:rPr lang="en-IN" sz="2000" b="1"/>
                        <a:t>FEASIBILITY ANALYSIS</a:t>
                      </a:r>
                      <a:endParaRPr lang="en-IN" sz="2000"/>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CHALLENGES &amp; RISKS</a:t>
                      </a:r>
                      <a:endParaRPr lang="en-IN" sz="2000"/>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t>MITIGATION STRATEGIES</a:t>
                      </a:r>
                      <a:endParaRPr lang="en-IN" sz="2000" dirty="0"/>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0816063"/>
                  </a:ext>
                </a:extLst>
              </a:tr>
              <a:tr h="1918795">
                <a:tc>
                  <a:txBody>
                    <a:bodyPr/>
                    <a:lstStyle/>
                    <a:p>
                      <a:pPr>
                        <a:buNone/>
                      </a:pPr>
                      <a:r>
                        <a:rPr lang="en-IN" sz="1800" b="0" dirty="0"/>
                        <a:t>Core System Implementation </a:t>
                      </a:r>
                      <a:r>
                        <a:rPr lang="en-IN" sz="1800" b="0" i="1" dirty="0"/>
                        <a:t>Practical Viability:</a:t>
                      </a:r>
                      <a:r>
                        <a:rPr lang="en-IN" sz="1800" b="0" dirty="0"/>
                        <a:t> System integrates URL/email input, multilingual detection, ML-based risk scoring, heatmap visualization, and prevention engine using lightweight backend (Flask/</a:t>
                      </a:r>
                      <a:r>
                        <a:rPr lang="en-IN" sz="1800" b="0" dirty="0" err="1"/>
                        <a:t>FastAPI</a:t>
                      </a:r>
                      <a:r>
                        <a:rPr lang="en-IN" sz="1800" b="0" dirty="0"/>
                        <a:t>) and Scikit-learn.</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t>Model Accuracy Risk: False positives or false negatives may reduce trust in system.</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t>Use ensemble ML models (Random Forest + Logistic Regression), cross-validation, and continuous dataset tuning.</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2467925"/>
                  </a:ext>
                </a:extLst>
              </a:tr>
              <a:tr h="1138990">
                <a:tc>
                  <a:txBody>
                    <a:bodyPr/>
                    <a:lstStyle/>
                    <a:p>
                      <a:pPr>
                        <a:buNone/>
                      </a:pPr>
                      <a:r>
                        <a:rPr lang="en-US" sz="1800" b="0" dirty="0"/>
                        <a:t>Multilingual Detection Supports multiple languages using automatic language detection and translation APIs before phishing classification.</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t>Translation Inaccuracy: Context may be lost during translation affecting prediction accuracy.</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t>Use reliable translation API and combine keyword-based detection with semantic analysis to reduce dependency on translation errors.</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3796040"/>
                  </a:ext>
                </a:extLst>
              </a:tr>
              <a:tr h="983028">
                <a:tc>
                  <a:txBody>
                    <a:bodyPr/>
                    <a:lstStyle/>
                    <a:p>
                      <a:pPr>
                        <a:buNone/>
                      </a:pPr>
                      <a:r>
                        <a:rPr lang="en-US" sz="1800" b="0" dirty="0"/>
                        <a:t>Heatmap &amp; Explainable AI Generates visual heatmaps highlighting suspicious words and URL segments for explainable AI output.</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dirty="0"/>
                        <a:t>Complexity in Visualization: Mapping ML weights into meaningful highlights can be technically challenging.</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dirty="0"/>
                        <a:t>Use keyword scoring + TF-IDF weights for interpretable highlighting instead of complex deep learning attention models.</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32173"/>
                  </a:ext>
                </a:extLst>
              </a:tr>
              <a:tr h="1138990">
                <a:tc>
                  <a:txBody>
                    <a:bodyPr/>
                    <a:lstStyle/>
                    <a:p>
                      <a:pPr>
                        <a:buNone/>
                      </a:pPr>
                      <a:r>
                        <a:rPr lang="en-US" sz="1800" b="0"/>
                        <a:t>Backend Data Storage &amp; Analytics Stores scanned URLs/emails, probability score, phishing type, language, and timestamp in database for trend analysis.</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t>Data Privacy Concerns: Storing phishing content may raise privacy issues.</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dirty="0"/>
                        <a:t>Store hashed or anonymized data, encrypt database, and avoid storing full sensitive email content.</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8151316"/>
                  </a:ext>
                </a:extLst>
              </a:tr>
              <a:tr h="983028">
                <a:tc>
                  <a:txBody>
                    <a:bodyPr/>
                    <a:lstStyle/>
                    <a:p>
                      <a:pPr>
                        <a:buNone/>
                      </a:pPr>
                      <a:r>
                        <a:rPr lang="en-US" sz="1800" b="0"/>
                        <a:t>Real-Time Performance Lightweight ML models ensure real-time risk score generation within seconds.</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t>Processing Latency: Multilingual translation + feature extraction may delay response.</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dirty="0"/>
                        <a:t>Implement asynchronous processing, caching repeated domains, and optimized feature extraction pipeline.</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2799361"/>
                  </a:ext>
                </a:extLst>
              </a:tr>
              <a:tr h="827067">
                <a:tc>
                  <a:txBody>
                    <a:bodyPr/>
                    <a:lstStyle/>
                    <a:p>
                      <a:pPr>
                        <a:buNone/>
                      </a:pPr>
                      <a:r>
                        <a:rPr lang="en-US" sz="1800" b="0"/>
                        <a:t>Scalability Modular architecture allows deployment as web app, browser extension, or enterprise API.</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t>Scalability Limitations: High traffic may overload backend server.</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dirty="0"/>
                        <a:t>Deploy on scalable cloud platform with load balancing and containerization (Docker).</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6093281"/>
                  </a:ext>
                </a:extLst>
              </a:tr>
              <a:tr h="827067">
                <a:tc>
                  <a:txBody>
                    <a:bodyPr/>
                    <a:lstStyle/>
                    <a:p>
                      <a:pPr>
                        <a:buNone/>
                      </a:pPr>
                      <a:r>
                        <a:rPr lang="en-US" sz="1800" b="0"/>
                        <a:t>Security &amp; Compliance System designed with secure API endpoints and encrypted communication.</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t>System Misuse: Attackers may test phishing links using platform.</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dirty="0"/>
                        <a:t>Rate limiting, CAPTCHA integration, and request logging to prevent abuse.</a:t>
                      </a:r>
                    </a:p>
                  </a:txBody>
                  <a:tcPr marL="32328" marR="32328" marT="16164" marB="16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0473449"/>
                  </a:ext>
                </a:extLst>
              </a:tr>
            </a:tbl>
          </a:graphicData>
        </a:graphic>
      </p:graphicFrame>
      <p:pic>
        <p:nvPicPr>
          <p:cNvPr id="7" name="Picture 2" descr="Symbiosis University of Applied Sciences Indore: Skill-Based UG and PG  Programs with Strong Placements – AUBSP">
            <a:extLst>
              <a:ext uri="{FF2B5EF4-FFF2-40B4-BE49-F238E27FC236}">
                <a16:creationId xmlns:a16="http://schemas.microsoft.com/office/drawing/2014/main" id="{855ACD7A-9D7E-373E-90DE-0A75938098E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182" r="22333"/>
          <a:stretch>
            <a:fillRect/>
          </a:stretch>
        </p:blipFill>
        <p:spPr bwMode="auto">
          <a:xfrm>
            <a:off x="0" y="-21040"/>
            <a:ext cx="1292115" cy="12783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281548" y="571817"/>
            <a:ext cx="5096917" cy="828042"/>
          </a:xfrm>
          <a:prstGeom prst="rect">
            <a:avLst/>
          </a:prstGeom>
        </p:spPr>
        <p:txBody>
          <a:bodyPr lIns="0" tIns="0" rIns="0" bIns="0" rtlCol="0" anchor="t">
            <a:spAutoFit/>
          </a:bodyPr>
          <a:lstStyle/>
          <a:p>
            <a:pPr algn="ctr">
              <a:lnSpc>
                <a:spcPts val="6859"/>
              </a:lnSpc>
              <a:spcBef>
                <a:spcPct val="0"/>
              </a:spcBef>
            </a:pPr>
            <a:r>
              <a:rPr lang="en-US" sz="4899" b="1" u="sng" dirty="0">
                <a:solidFill>
                  <a:srgbClr val="000000"/>
                </a:solidFill>
                <a:latin typeface="Montserrat Bold"/>
                <a:ea typeface="Montserrat Bold"/>
                <a:cs typeface="Montserrat Bold"/>
                <a:sym typeface="Montserrat Bold"/>
              </a:rPr>
              <a:t>Business Model</a:t>
            </a:r>
          </a:p>
        </p:txBody>
      </p:sp>
      <p:pic>
        <p:nvPicPr>
          <p:cNvPr id="9" name="Picture 8">
            <a:extLst>
              <a:ext uri="{FF2B5EF4-FFF2-40B4-BE49-F238E27FC236}">
                <a16:creationId xmlns:a16="http://schemas.microsoft.com/office/drawing/2014/main" id="{515B2B5C-E5CA-6C10-C28D-AAF3423F20C7}"/>
              </a:ext>
            </a:extLst>
          </p:cNvPr>
          <p:cNvPicPr>
            <a:picLocks noChangeAspect="1"/>
          </p:cNvPicPr>
          <p:nvPr/>
        </p:nvPicPr>
        <p:blipFill>
          <a:blip r:embed="rId2"/>
          <a:stretch>
            <a:fillRect/>
          </a:stretch>
        </p:blipFill>
        <p:spPr>
          <a:xfrm>
            <a:off x="457200" y="2095500"/>
            <a:ext cx="10134600" cy="7297476"/>
          </a:xfrm>
          <a:prstGeom prst="rect">
            <a:avLst/>
          </a:prstGeom>
        </p:spPr>
      </p:pic>
      <p:pic>
        <p:nvPicPr>
          <p:cNvPr id="13" name="Picture 12">
            <a:extLst>
              <a:ext uri="{FF2B5EF4-FFF2-40B4-BE49-F238E27FC236}">
                <a16:creationId xmlns:a16="http://schemas.microsoft.com/office/drawing/2014/main" id="{3FC6CBF4-8C9B-E2CA-1BAF-B95D3167BE63}"/>
              </a:ext>
            </a:extLst>
          </p:cNvPr>
          <p:cNvPicPr>
            <a:picLocks noChangeAspect="1"/>
          </p:cNvPicPr>
          <p:nvPr/>
        </p:nvPicPr>
        <p:blipFill>
          <a:blip r:embed="rId3">
            <a:extLst>
              <a:ext uri="{28A0092B-C50C-407E-A947-70E740481C1C}">
                <a14:useLocalDpi xmlns:a14="http://schemas.microsoft.com/office/drawing/2010/main" val="0"/>
              </a:ext>
            </a:extLst>
          </a:blip>
          <a:srcRect l="526" t="14634" r="-526" b="5691"/>
          <a:stretch>
            <a:fillRect/>
          </a:stretch>
        </p:blipFill>
        <p:spPr>
          <a:xfrm>
            <a:off x="10744200" y="1409700"/>
            <a:ext cx="7391400" cy="8806774"/>
          </a:xfrm>
          <a:prstGeom prst="rect">
            <a:avLst/>
          </a:prstGeom>
        </p:spPr>
      </p:pic>
      <p:pic>
        <p:nvPicPr>
          <p:cNvPr id="14" name="Picture 2" descr="Symbiosis University of Applied Sciences Indore: Skill-Based UG and PG  Programs with Strong Placements – AUBSP">
            <a:extLst>
              <a:ext uri="{FF2B5EF4-FFF2-40B4-BE49-F238E27FC236}">
                <a16:creationId xmlns:a16="http://schemas.microsoft.com/office/drawing/2014/main" id="{6211FDD0-400A-7566-3B6B-8807E0527D5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1182" r="22333"/>
          <a:stretch>
            <a:fillRect/>
          </a:stretch>
        </p:blipFill>
        <p:spPr bwMode="auto">
          <a:xfrm>
            <a:off x="0" y="-21040"/>
            <a:ext cx="1292115" cy="12783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95400" y="1562100"/>
            <a:ext cx="15163800" cy="8617744"/>
          </a:xfrm>
          <a:prstGeom prst="rect">
            <a:avLst/>
          </a:prstGeom>
        </p:spPr>
        <p:txBody>
          <a:bodyPr wrap="square" lIns="0" tIns="0" rIns="0" bIns="0" rtlCol="0" anchor="t">
            <a:spAutoFit/>
          </a:bodyPr>
          <a:lstStyle/>
          <a:p>
            <a:r>
              <a:rPr lang="en-US" sz="2800" b="1" dirty="0"/>
              <a:t>1. Cybersecurity Impact</a:t>
            </a:r>
          </a:p>
          <a:p>
            <a:r>
              <a:rPr lang="en-US" sz="2800" dirty="0"/>
              <a:t>• Reduces phishing attack success rates through AI-based detection</a:t>
            </a:r>
            <a:br>
              <a:rPr lang="en-US" sz="2800" dirty="0"/>
            </a:br>
            <a:r>
              <a:rPr lang="en-US" sz="2800" dirty="0"/>
              <a:t>• Detects multilingual and AI-generated phishing attempts</a:t>
            </a:r>
            <a:br>
              <a:rPr lang="en-US" sz="2800" dirty="0"/>
            </a:br>
            <a:r>
              <a:rPr lang="en-US" sz="2800" dirty="0"/>
              <a:t>• Provides explainable AI via visual heatmaps for transparency</a:t>
            </a:r>
            <a:br>
              <a:rPr lang="en-US" sz="2800" dirty="0"/>
            </a:br>
            <a:r>
              <a:rPr lang="en-US" sz="2800" dirty="0"/>
              <a:t>• Encourages proactive threat awareness instead of reactive response</a:t>
            </a:r>
          </a:p>
          <a:p>
            <a:r>
              <a:rPr lang="en-US" sz="2800" b="1" dirty="0"/>
              <a:t>2. User Impact</a:t>
            </a:r>
          </a:p>
          <a:p>
            <a:r>
              <a:rPr lang="en-US" sz="2800" dirty="0"/>
              <a:t>• Empowers non-technical users to recognize phishing threats</a:t>
            </a:r>
            <a:br>
              <a:rPr lang="en-US" sz="2800" dirty="0"/>
            </a:br>
            <a:r>
              <a:rPr lang="en-US" sz="2800" dirty="0"/>
              <a:t>• Delivers instant, actionable prevention guidance</a:t>
            </a:r>
            <a:br>
              <a:rPr lang="en-US" sz="2800" dirty="0"/>
            </a:br>
            <a:r>
              <a:rPr lang="en-US" sz="2800" dirty="0"/>
              <a:t>• Builds digital safety confidence and trust</a:t>
            </a:r>
            <a:br>
              <a:rPr lang="en-US" sz="2800" dirty="0"/>
            </a:br>
            <a:r>
              <a:rPr lang="en-US" sz="2800" dirty="0"/>
              <a:t>• Protects personal data, credentials, and financial assets</a:t>
            </a:r>
          </a:p>
          <a:p>
            <a:r>
              <a:rPr lang="en-IN" sz="2800" b="1" dirty="0"/>
              <a:t>3. Business Impact</a:t>
            </a:r>
          </a:p>
          <a:p>
            <a:r>
              <a:rPr lang="en-IN" sz="2800" dirty="0"/>
              <a:t>• Protects SMEs and startups from financial fraud</a:t>
            </a:r>
            <a:br>
              <a:rPr lang="en-IN" sz="2800" dirty="0"/>
            </a:br>
            <a:r>
              <a:rPr lang="en-IN" sz="2800" dirty="0"/>
              <a:t>• Minimizes Business Email Compromise (BEC) risks</a:t>
            </a:r>
            <a:br>
              <a:rPr lang="en-IN" sz="2800" dirty="0"/>
            </a:br>
            <a:r>
              <a:rPr lang="en-IN" sz="2800" dirty="0"/>
              <a:t>• Offers centralized threat intelligence analytics</a:t>
            </a:r>
            <a:br>
              <a:rPr lang="en-IN" sz="2800" dirty="0"/>
            </a:br>
            <a:r>
              <a:rPr lang="en-IN" sz="2800" dirty="0"/>
              <a:t>• Strengthens enterprise cybersecurity posture</a:t>
            </a:r>
          </a:p>
          <a:p>
            <a:r>
              <a:rPr lang="en-IN" sz="2800" b="1" dirty="0"/>
              <a:t>4. Societal Impact</a:t>
            </a:r>
          </a:p>
          <a:p>
            <a:r>
              <a:rPr lang="en-IN" sz="2800" dirty="0"/>
              <a:t>• Contributes to a safer digital ecosystem</a:t>
            </a:r>
            <a:br>
              <a:rPr lang="en-IN" sz="2800" dirty="0"/>
            </a:br>
            <a:r>
              <a:rPr lang="en-IN" sz="2800" dirty="0"/>
              <a:t>• Supports regional and multilingual internet users</a:t>
            </a:r>
            <a:br>
              <a:rPr lang="en-IN" sz="2800" dirty="0"/>
            </a:br>
            <a:r>
              <a:rPr lang="en-IN" sz="2800" dirty="0"/>
              <a:t>• Reduces cybercrime vulnerability at scale</a:t>
            </a:r>
            <a:br>
              <a:rPr lang="en-IN" sz="2800" dirty="0"/>
            </a:br>
            <a:r>
              <a:rPr lang="en-IN" sz="2800" dirty="0"/>
              <a:t>• Promotes cybersecurity awareness in developing regions</a:t>
            </a:r>
          </a:p>
        </p:txBody>
      </p:sp>
      <p:sp>
        <p:nvSpPr>
          <p:cNvPr id="3" name="TextBox 3"/>
          <p:cNvSpPr txBox="1"/>
          <p:nvPr/>
        </p:nvSpPr>
        <p:spPr>
          <a:xfrm>
            <a:off x="5179618" y="571817"/>
            <a:ext cx="6912025" cy="828042"/>
          </a:xfrm>
          <a:prstGeom prst="rect">
            <a:avLst/>
          </a:prstGeom>
        </p:spPr>
        <p:txBody>
          <a:bodyPr lIns="0" tIns="0" rIns="0" bIns="0" rtlCol="0" anchor="t">
            <a:spAutoFit/>
          </a:bodyPr>
          <a:lstStyle/>
          <a:p>
            <a:pPr algn="ctr">
              <a:lnSpc>
                <a:spcPts val="6859"/>
              </a:lnSpc>
              <a:spcBef>
                <a:spcPct val="0"/>
              </a:spcBef>
            </a:pPr>
            <a:r>
              <a:rPr lang="en-US" sz="4899" b="1" u="sng" dirty="0">
                <a:solidFill>
                  <a:srgbClr val="000000"/>
                </a:solidFill>
                <a:latin typeface="Montserrat Bold"/>
                <a:ea typeface="Montserrat Bold"/>
                <a:cs typeface="Montserrat Bold"/>
                <a:sym typeface="Montserrat Bold"/>
              </a:rPr>
              <a:t>Impact of the project</a:t>
            </a:r>
          </a:p>
        </p:txBody>
      </p:sp>
      <p:pic>
        <p:nvPicPr>
          <p:cNvPr id="4" name="Picture 2" descr="Symbiosis University of Applied Sciences Indore: Skill-Based UG and PG  Programs with Strong Placements – AUBSP">
            <a:extLst>
              <a:ext uri="{FF2B5EF4-FFF2-40B4-BE49-F238E27FC236}">
                <a16:creationId xmlns:a16="http://schemas.microsoft.com/office/drawing/2014/main" id="{69BF51AB-4C0B-E292-624E-B0D2AB44B86D}"/>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182" r="22333"/>
          <a:stretch>
            <a:fillRect/>
          </a:stretch>
        </p:blipFill>
        <p:spPr bwMode="auto">
          <a:xfrm>
            <a:off x="0" y="-21040"/>
            <a:ext cx="1292115" cy="12783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58342" y="1724396"/>
            <a:ext cx="15880007" cy="7861704"/>
          </a:xfrm>
          <a:prstGeom prst="rect">
            <a:avLst/>
          </a:prstGeom>
        </p:spPr>
        <p:txBody>
          <a:bodyPr lIns="0" tIns="0" rIns="0" bIns="0" rtlCol="0" anchor="t">
            <a:spAutoFit/>
          </a:bodyPr>
          <a:lstStyle/>
          <a:p>
            <a:r>
              <a:rPr lang="en-US" sz="3200" dirty="0"/>
              <a:t>Phishing is no longer just an email scam — it is a rapidly evolving cyber weapon powered by AI, multilingual manipulation, and advanced social engineering. As attacks become smarter and more personalized, traditional rule-based detection systems are no longer enough.</a:t>
            </a:r>
          </a:p>
          <a:p>
            <a:pPr>
              <a:spcBef>
                <a:spcPts val="600"/>
              </a:spcBef>
            </a:pPr>
            <a:endParaRPr lang="en-US" sz="3200" dirty="0"/>
          </a:p>
          <a:p>
            <a:r>
              <a:rPr lang="en-US" sz="3200" dirty="0"/>
              <a:t>Our </a:t>
            </a:r>
            <a:r>
              <a:rPr lang="en-US" sz="3200" b="1" dirty="0"/>
              <a:t>AI-Powered Phishing Threat Monitor</a:t>
            </a:r>
            <a:r>
              <a:rPr lang="en-US" sz="3200" dirty="0"/>
              <a:t> goes beyond simple detection by combining:</a:t>
            </a:r>
          </a:p>
          <a:p>
            <a:pPr marL="514350" indent="-514350">
              <a:buFont typeface="+mj-lt"/>
              <a:buAutoNum type="arabicPeriod"/>
            </a:pPr>
            <a:r>
              <a:rPr lang="en-US" sz="3200" dirty="0"/>
              <a:t>Intelligent ML-based risk scoring</a:t>
            </a:r>
          </a:p>
          <a:p>
            <a:pPr marL="514350" indent="-514350">
              <a:buFont typeface="+mj-lt"/>
              <a:buAutoNum type="arabicPeriod"/>
            </a:pPr>
            <a:r>
              <a:rPr lang="en-US" sz="3200" dirty="0"/>
              <a:t>Explainable AI with visual transparency</a:t>
            </a:r>
          </a:p>
          <a:p>
            <a:pPr marL="514350" indent="-514350">
              <a:buFont typeface="+mj-lt"/>
              <a:buAutoNum type="arabicPeriod"/>
            </a:pPr>
            <a:r>
              <a:rPr lang="en-US" sz="3200" dirty="0"/>
              <a:t>Multilingual threat detection</a:t>
            </a:r>
          </a:p>
          <a:p>
            <a:pPr marL="514350" indent="-514350">
              <a:buFont typeface="+mj-lt"/>
              <a:buAutoNum type="arabicPeriod"/>
            </a:pPr>
            <a:r>
              <a:rPr lang="en-US" sz="3200" dirty="0"/>
              <a:t>Phishing type classification</a:t>
            </a:r>
          </a:p>
          <a:p>
            <a:pPr marL="514350" indent="-514350">
              <a:buFont typeface="+mj-lt"/>
              <a:buAutoNum type="arabicPeriod"/>
            </a:pPr>
            <a:r>
              <a:rPr lang="en-US" sz="3200" dirty="0"/>
              <a:t>Actionable prevention guidance</a:t>
            </a:r>
          </a:p>
          <a:p>
            <a:pPr marL="514350" indent="-514350">
              <a:buFont typeface="+mj-lt"/>
              <a:buAutoNum type="arabicPeriod"/>
            </a:pPr>
            <a:r>
              <a:rPr lang="en-US" sz="3200" dirty="0"/>
              <a:t>Real-time threat intelligence analytics</a:t>
            </a:r>
          </a:p>
          <a:p>
            <a:endParaRPr lang="en-US" sz="3200" dirty="0"/>
          </a:p>
          <a:p>
            <a:r>
              <a:rPr lang="en-US" sz="3200" dirty="0"/>
              <a:t>Our solution empowers non-technical users, protects businesses, and strengthens the overall digital ecosystem. It transforms cybersecurity from a background tool into an interactive, transparent, and proactive defense platform.</a:t>
            </a:r>
          </a:p>
          <a:p>
            <a:endParaRPr lang="en-US" sz="2587" dirty="0">
              <a:solidFill>
                <a:srgbClr val="000000"/>
              </a:solidFill>
              <a:latin typeface="Montserrat"/>
              <a:ea typeface="Montserrat"/>
              <a:cs typeface="Montserrat"/>
              <a:sym typeface="Montserrat"/>
            </a:endParaRPr>
          </a:p>
        </p:txBody>
      </p:sp>
      <p:sp>
        <p:nvSpPr>
          <p:cNvPr id="3" name="AutoShape 3"/>
          <p:cNvSpPr/>
          <p:nvPr/>
        </p:nvSpPr>
        <p:spPr>
          <a:xfrm flipV="1">
            <a:off x="6705291" y="1212342"/>
            <a:ext cx="4234558" cy="0"/>
          </a:xfrm>
          <a:prstGeom prst="line">
            <a:avLst/>
          </a:prstGeom>
          <a:ln w="38100" cap="flat">
            <a:solidFill>
              <a:srgbClr val="000000"/>
            </a:solidFill>
            <a:prstDash val="solid"/>
            <a:headEnd type="none" w="sm" len="sm"/>
            <a:tailEnd type="none" w="sm" len="sm"/>
          </a:ln>
        </p:spPr>
      </p:sp>
      <p:sp>
        <p:nvSpPr>
          <p:cNvPr id="4" name="TextBox 4"/>
          <p:cNvSpPr txBox="1"/>
          <p:nvPr/>
        </p:nvSpPr>
        <p:spPr>
          <a:xfrm>
            <a:off x="7064369" y="384300"/>
            <a:ext cx="3875480" cy="828042"/>
          </a:xfrm>
          <a:prstGeom prst="rect">
            <a:avLst/>
          </a:prstGeom>
        </p:spPr>
        <p:txBody>
          <a:bodyPr wrap="square" lIns="0" tIns="0" rIns="0" bIns="0" rtlCol="0" anchor="t">
            <a:spAutoFit/>
          </a:bodyPr>
          <a:lstStyle/>
          <a:p>
            <a:pPr algn="ctr">
              <a:lnSpc>
                <a:spcPts val="6859"/>
              </a:lnSpc>
              <a:spcBef>
                <a:spcPct val="0"/>
              </a:spcBef>
            </a:pPr>
            <a:r>
              <a:rPr lang="en-US" sz="4899" b="1" dirty="0">
                <a:solidFill>
                  <a:srgbClr val="000000"/>
                </a:solidFill>
                <a:latin typeface="Montserrat Bold"/>
                <a:ea typeface="Montserrat Bold"/>
                <a:cs typeface="Montserrat Bold"/>
                <a:sym typeface="Montserrat Bold"/>
              </a:rPr>
              <a:t>Conclusion</a:t>
            </a:r>
          </a:p>
        </p:txBody>
      </p:sp>
      <p:pic>
        <p:nvPicPr>
          <p:cNvPr id="5" name="Picture 2" descr="Symbiosis University of Applied Sciences Indore: Skill-Based UG and PG  Programs with Strong Placements – AUBSP">
            <a:extLst>
              <a:ext uri="{FF2B5EF4-FFF2-40B4-BE49-F238E27FC236}">
                <a16:creationId xmlns:a16="http://schemas.microsoft.com/office/drawing/2014/main" id="{AAC27BEF-4532-C51C-33CB-9E3E4914E7D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182" r="22333"/>
          <a:stretch>
            <a:fillRect/>
          </a:stretch>
        </p:blipFill>
        <p:spPr bwMode="auto">
          <a:xfrm>
            <a:off x="0" y="0"/>
            <a:ext cx="1292115" cy="1257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0FAB896-6197-9F00-5070-35981F25EA09}"/>
              </a:ext>
            </a:extLst>
          </p:cNvPr>
          <p:cNvGraphicFramePr>
            <a:graphicFrameLocks noGrp="1"/>
          </p:cNvGraphicFramePr>
          <p:nvPr>
            <p:extLst>
              <p:ext uri="{D42A27DB-BD31-4B8C-83A1-F6EECF244321}">
                <p14:modId xmlns:p14="http://schemas.microsoft.com/office/powerpoint/2010/main" val="3498595074"/>
              </p:ext>
            </p:extLst>
          </p:nvPr>
        </p:nvGraphicFramePr>
        <p:xfrm>
          <a:off x="3006882" y="1866900"/>
          <a:ext cx="12274236" cy="7273994"/>
        </p:xfrm>
        <a:graphic>
          <a:graphicData uri="http://schemas.openxmlformats.org/drawingml/2006/table">
            <a:tbl>
              <a:tblPr/>
              <a:tblGrid>
                <a:gridCol w="3068559">
                  <a:extLst>
                    <a:ext uri="{9D8B030D-6E8A-4147-A177-3AD203B41FA5}">
                      <a16:colId xmlns:a16="http://schemas.microsoft.com/office/drawing/2014/main" val="3491458494"/>
                    </a:ext>
                  </a:extLst>
                </a:gridCol>
                <a:gridCol w="3068559">
                  <a:extLst>
                    <a:ext uri="{9D8B030D-6E8A-4147-A177-3AD203B41FA5}">
                      <a16:colId xmlns:a16="http://schemas.microsoft.com/office/drawing/2014/main" val="3130590686"/>
                    </a:ext>
                  </a:extLst>
                </a:gridCol>
                <a:gridCol w="3068559">
                  <a:extLst>
                    <a:ext uri="{9D8B030D-6E8A-4147-A177-3AD203B41FA5}">
                      <a16:colId xmlns:a16="http://schemas.microsoft.com/office/drawing/2014/main" val="2405204751"/>
                    </a:ext>
                  </a:extLst>
                </a:gridCol>
                <a:gridCol w="3068559">
                  <a:extLst>
                    <a:ext uri="{9D8B030D-6E8A-4147-A177-3AD203B41FA5}">
                      <a16:colId xmlns:a16="http://schemas.microsoft.com/office/drawing/2014/main" val="3931778475"/>
                    </a:ext>
                  </a:extLst>
                </a:gridCol>
              </a:tblGrid>
              <a:tr h="362835">
                <a:tc>
                  <a:txBody>
                    <a:bodyPr/>
                    <a:lstStyle/>
                    <a:p>
                      <a:pPr algn="ctr">
                        <a:buNone/>
                      </a:pPr>
                      <a:r>
                        <a:rPr lang="en-IN" sz="2400" b="1">
                          <a:effectLst/>
                        </a:rPr>
                        <a:t>Hours</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buNone/>
                      </a:pPr>
                      <a:r>
                        <a:rPr lang="en-IN" sz="2400" b="1">
                          <a:effectLst/>
                        </a:rPr>
                        <a:t>Tasks</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buNone/>
                      </a:pPr>
                      <a:r>
                        <a:rPr lang="en-IN" sz="2400" b="1">
                          <a:effectLst/>
                        </a:rPr>
                        <a:t>Assigned</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buNone/>
                      </a:pPr>
                      <a:r>
                        <a:rPr lang="en-IN" sz="2400" b="1" dirty="0">
                          <a:effectLst/>
                        </a:rPr>
                        <a:t>Milestones</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588021261"/>
                  </a:ext>
                </a:extLst>
              </a:tr>
              <a:tr h="1367613">
                <a:tc>
                  <a:txBody>
                    <a:bodyPr/>
                    <a:lstStyle/>
                    <a:p>
                      <a:pPr algn="l">
                        <a:buNone/>
                      </a:pPr>
                      <a:r>
                        <a:rPr lang="en-IN" sz="2000">
                          <a:effectLst/>
                        </a:rPr>
                        <a:t>0-6</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2000">
                          <a:effectLst/>
                        </a:rPr>
                        <a:t>Setup repo, download dataset, EDA + train basic model. Test on sample URLs.</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2000">
                          <a:effectLst/>
                        </a:rPr>
                        <a:t>ML + Dev</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dirty="0">
                          <a:effectLst/>
                        </a:rPr>
                        <a:t>Model accuracy &gt;90%; saved pickle.</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7477609"/>
                  </a:ext>
                </a:extLst>
              </a:tr>
              <a:tr h="1618806">
                <a:tc>
                  <a:txBody>
                    <a:bodyPr/>
                    <a:lstStyle/>
                    <a:p>
                      <a:pPr algn="l">
                        <a:buNone/>
                      </a:pPr>
                      <a:r>
                        <a:rPr lang="en-IN" sz="2000">
                          <a:effectLst/>
                        </a:rPr>
                        <a:t>6-12</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rPr>
                        <a:t>Build feature extractor func. Integrate into Streamlit app (input → predict). Add VirusTotal.</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2000">
                          <a:effectLst/>
                        </a:rPr>
                        <a:t>Dev + UI</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2000">
                          <a:effectLst/>
                        </a:rPr>
                        <a:t>Local app running scans.</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035066"/>
                  </a:ext>
                </a:extLst>
              </a:tr>
              <a:tr h="1367613">
                <a:tc>
                  <a:txBody>
                    <a:bodyPr/>
                    <a:lstStyle/>
                    <a:p>
                      <a:pPr algn="l">
                        <a:buNone/>
                      </a:pPr>
                      <a:r>
                        <a:rPr lang="en-IN" sz="2000">
                          <a:effectLst/>
                        </a:rPr>
                        <a:t>12-18</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rPr>
                        <a:t>UI polish: Dashboard, charts (SHAP for explanations), email scanner stub.</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2000">
                          <a:effectLst/>
                        </a:rPr>
                        <a:t>UI + ML</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2000">
                          <a:effectLst/>
                        </a:rPr>
                        <a:t>Demo-ready prototype.</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7256533"/>
                  </a:ext>
                </a:extLst>
              </a:tr>
              <a:tr h="1367613">
                <a:tc>
                  <a:txBody>
                    <a:bodyPr/>
                    <a:lstStyle/>
                    <a:p>
                      <a:pPr algn="l">
                        <a:buNone/>
                      </a:pPr>
                      <a:r>
                        <a:rPr lang="en-IN" sz="2000">
                          <a:effectLst/>
                        </a:rPr>
                        <a:t>18-24</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rPr>
                        <a:t>Test edge cases, fix bugs, add README/demo video. Optimize speed.</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2000">
                          <a:effectLst/>
                        </a:rPr>
                        <a:t>All</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2000">
                          <a:effectLst/>
                        </a:rPr>
                        <a:t>99% uptime; mobile-friendly.</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9062795"/>
                  </a:ext>
                </a:extLst>
              </a:tr>
              <a:tr h="1116419">
                <a:tc>
                  <a:txBody>
                    <a:bodyPr/>
                    <a:lstStyle/>
                    <a:p>
                      <a:pPr algn="l">
                        <a:buNone/>
                      </a:pPr>
                      <a:r>
                        <a:rPr lang="en-IN" sz="2000">
                          <a:effectLst/>
                        </a:rPr>
                        <a:t>24-36</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rPr>
                        <a:t>Deploy, metrics viz (confusion matrix), pitch deck. Rehearse.</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2000">
                          <a:effectLst/>
                        </a:rPr>
                        <a:t>All</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2000" dirty="0">
                          <a:effectLst/>
                        </a:rPr>
                        <a:t>Live link; judge demo.</a:t>
                      </a:r>
                    </a:p>
                  </a:txBody>
                  <a:tcPr marL="35085" marR="35085" marT="35085" marB="35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51962"/>
                  </a:ext>
                </a:extLst>
              </a:tr>
            </a:tbl>
          </a:graphicData>
        </a:graphic>
      </p:graphicFrame>
      <p:sp>
        <p:nvSpPr>
          <p:cNvPr id="4" name="TextBox 3">
            <a:extLst>
              <a:ext uri="{FF2B5EF4-FFF2-40B4-BE49-F238E27FC236}">
                <a16:creationId xmlns:a16="http://schemas.microsoft.com/office/drawing/2014/main" id="{0EB49D15-4FE9-17AA-AD5E-ECA536206C27}"/>
              </a:ext>
            </a:extLst>
          </p:cNvPr>
          <p:cNvSpPr txBox="1"/>
          <p:nvPr/>
        </p:nvSpPr>
        <p:spPr>
          <a:xfrm>
            <a:off x="3006882" y="723900"/>
            <a:ext cx="12274236" cy="769441"/>
          </a:xfrm>
          <a:prstGeom prst="rect">
            <a:avLst/>
          </a:prstGeom>
          <a:noFill/>
        </p:spPr>
        <p:txBody>
          <a:bodyPr wrap="square">
            <a:spAutoFit/>
          </a:bodyPr>
          <a:lstStyle/>
          <a:p>
            <a:pPr algn="ctr">
              <a:buNone/>
            </a:pPr>
            <a:r>
              <a:rPr lang="en-IN" sz="4400" b="1" i="0" dirty="0">
                <a:effectLst/>
                <a:latin typeface="pplxSerif"/>
              </a:rPr>
              <a:t>36-Hour Plan</a:t>
            </a:r>
          </a:p>
        </p:txBody>
      </p:sp>
      <p:pic>
        <p:nvPicPr>
          <p:cNvPr id="5" name="Picture 2" descr="Symbiosis University of Applied Sciences Indore: Skill-Based UG and PG  Programs with Strong Placements – AUBSP">
            <a:extLst>
              <a:ext uri="{FF2B5EF4-FFF2-40B4-BE49-F238E27FC236}">
                <a16:creationId xmlns:a16="http://schemas.microsoft.com/office/drawing/2014/main" id="{9CF462E0-7B99-DAF0-425D-C2E25AFBCF6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182" r="22333"/>
          <a:stretch>
            <a:fillRect/>
          </a:stretch>
        </p:blipFill>
        <p:spPr bwMode="auto">
          <a:xfrm>
            <a:off x="0" y="0"/>
            <a:ext cx="1292115" cy="125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1781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TotalTime>
  <Words>2113</Words>
  <Application>Microsoft Office PowerPoint</Application>
  <PresentationFormat>Custom</PresentationFormat>
  <Paragraphs>177</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Montserrat Bold</vt:lpstr>
      <vt:lpstr>Arial</vt:lpstr>
      <vt:lpstr>Montserrat</vt:lpstr>
      <vt:lpstr>pplxSerif</vt:lpstr>
      <vt:lpstr>DM Sans Bold</vt:lpstr>
      <vt:lpstr>Calibri</vt:lpstr>
      <vt:lpstr>Canva Sans Bold</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AffectiveEdge: An Emotion-Adaptive Edge AI Companion for Intelligent Assisted Living</dc:title>
  <cp:lastModifiedBy>Shripurna Patil</cp:lastModifiedBy>
  <cp:revision>4</cp:revision>
  <dcterms:created xsi:type="dcterms:W3CDTF">2006-08-16T00:00:00Z</dcterms:created>
  <dcterms:modified xsi:type="dcterms:W3CDTF">2026-02-27T00:36:30Z</dcterms:modified>
  <dc:identifier>DAHBkZ2A_q8</dc:identifier>
</cp:coreProperties>
</file>